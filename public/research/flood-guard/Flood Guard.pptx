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20"/>
  </p:notesMasterIdLst>
  <p:sldIdLst>
    <p:sldId id="257" r:id="rId2"/>
    <p:sldId id="266" r:id="rId3"/>
    <p:sldId id="258" r:id="rId4"/>
    <p:sldId id="259" r:id="rId5"/>
    <p:sldId id="260" r:id="rId6"/>
    <p:sldId id="281" r:id="rId7"/>
    <p:sldId id="262" r:id="rId8"/>
    <p:sldId id="263" r:id="rId9"/>
    <p:sldId id="264" r:id="rId10"/>
    <p:sldId id="265" r:id="rId11"/>
    <p:sldId id="267" r:id="rId12"/>
    <p:sldId id="268" r:id="rId13"/>
    <p:sldId id="280" r:id="rId14"/>
    <p:sldId id="279" r:id="rId15"/>
    <p:sldId id="278" r:id="rId16"/>
    <p:sldId id="269" r:id="rId17"/>
    <p:sldId id="270" r:id="rId18"/>
    <p:sldId id="271" r:id="rId19"/>
  </p:sldIdLst>
  <p:sldSz cx="14630400" cy="8229600"/>
  <p:notesSz cx="8229600" cy="146304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Century Gothic" panose="020B0502020202020204" pitchFamily="34" charset="0"/>
      <p:regular r:id="rId25"/>
      <p:bold r:id="rId26"/>
      <p:italic r:id="rId27"/>
      <p:boldItalic r:id="rId28"/>
    </p:embeddedFont>
    <p:embeddedFont>
      <p:font typeface="Heebo Light" panose="020B0604020202020204" charset="-79"/>
      <p:regular r:id="rId29"/>
    </p:embeddedFont>
    <p:embeddedFont>
      <p:font typeface="Montserrat" pitchFamily="2" charset="0"/>
      <p:regular r:id="rId30"/>
      <p:bold r:id="rId31"/>
      <p:italic r:id="rId32"/>
      <p:boldItalic r:id="rId33"/>
    </p:embeddedFont>
    <p:embeddedFont>
      <p:font typeface="Montserrat Light" pitchFamily="2" charset="0"/>
      <p:regular r:id="rId34"/>
      <p:italic r:id="rId35"/>
    </p:embeddedFont>
    <p:embeddedFont>
      <p:font typeface="Wingdings 3" panose="05040102010807070707" pitchFamily="18" charset="2"/>
      <p:regular r:id="rId3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4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theme" Target="theme/theme1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890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1605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627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0999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7062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1966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3642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0345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8507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9019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49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1054" y="822960"/>
            <a:ext cx="9601200" cy="3566161"/>
          </a:xfrm>
        </p:spPr>
        <p:txBody>
          <a:bodyPr anchor="b">
            <a:normAutofit/>
          </a:bodyPr>
          <a:lstStyle>
            <a:lvl1pPr algn="l">
              <a:defRPr sz="576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1054" y="4612641"/>
            <a:ext cx="7680960" cy="2336800"/>
          </a:xfrm>
        </p:spPr>
        <p:txBody>
          <a:bodyPr anchor="t">
            <a:normAutofit/>
          </a:bodyPr>
          <a:lstStyle>
            <a:lvl1pPr marL="0" indent="0" algn="l">
              <a:buNone/>
              <a:defRPr sz="2520">
                <a:solidFill>
                  <a:schemeClr val="bg2">
                    <a:lumMod val="75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9873614" y="10160"/>
            <a:ext cx="4572000" cy="4572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7329805" y="109855"/>
            <a:ext cx="7296786" cy="729678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8682990" y="274320"/>
            <a:ext cx="5943600" cy="59436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8803005" y="38734"/>
            <a:ext cx="5823587" cy="5823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9414512" y="731522"/>
            <a:ext cx="5212079" cy="521207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936798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4863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1054" y="2407920"/>
            <a:ext cx="10241281" cy="2737920"/>
          </a:xfrm>
        </p:spPr>
        <p:txBody>
          <a:bodyPr anchor="b">
            <a:normAutofit/>
          </a:bodyPr>
          <a:lstStyle>
            <a:lvl1pPr algn="l">
              <a:defRPr sz="432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56" y="5394960"/>
            <a:ext cx="10241280" cy="179832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bg2">
                    <a:lumMod val="7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41004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1054" y="822961"/>
            <a:ext cx="5925186" cy="433832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69760" y="822961"/>
            <a:ext cx="5921375" cy="433831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7240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6497" y="822960"/>
            <a:ext cx="5579744" cy="691514"/>
          </a:xfrm>
        </p:spPr>
        <p:txBody>
          <a:bodyPr anchor="b">
            <a:noAutofit/>
          </a:bodyPr>
          <a:lstStyle>
            <a:lvl1pPr marL="0" indent="0">
              <a:buNone/>
              <a:defRPr sz="336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1054" y="1524635"/>
            <a:ext cx="5925186" cy="363664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4879" y="822960"/>
            <a:ext cx="5598161" cy="691514"/>
          </a:xfrm>
        </p:spPr>
        <p:txBody>
          <a:bodyPr anchor="b">
            <a:noAutofit/>
          </a:bodyPr>
          <a:lstStyle>
            <a:lvl1pPr marL="0" indent="0">
              <a:buNone/>
              <a:defRPr sz="336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67854" y="1514474"/>
            <a:ext cx="5915026" cy="363664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5629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06686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24985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2014" y="822960"/>
            <a:ext cx="4389120" cy="1645920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1055" y="822960"/>
            <a:ext cx="7132321" cy="637032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02014" y="2651760"/>
            <a:ext cx="4389120" cy="2509520"/>
          </a:xfrm>
        </p:spPr>
        <p:txBody>
          <a:bodyPr anchor="t">
            <a:normAutofit/>
          </a:bodyPr>
          <a:lstStyle>
            <a:lvl1pPr marL="0" indent="0">
              <a:buNone/>
              <a:defRPr sz="192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3111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7374" y="1737360"/>
            <a:ext cx="7223760" cy="1371600"/>
          </a:xfrm>
        </p:spPr>
        <p:txBody>
          <a:bodyPr anchor="b">
            <a:normAutofit/>
          </a:bodyPr>
          <a:lstStyle>
            <a:lvl1pPr algn="l">
              <a:defRPr sz="336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6814" y="1097280"/>
            <a:ext cx="3937169" cy="54864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7374" y="3332480"/>
            <a:ext cx="7225666" cy="2458720"/>
          </a:xfrm>
        </p:spPr>
        <p:txBody>
          <a:bodyPr anchor="t"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02283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822960" y="640080"/>
            <a:ext cx="12982574" cy="374904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1097282" y="4612640"/>
            <a:ext cx="9965052" cy="54864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920"/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069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1056" y="822960"/>
            <a:ext cx="12070080" cy="3291840"/>
          </a:xfrm>
        </p:spPr>
        <p:txBody>
          <a:bodyPr anchor="ctr">
            <a:normAutofit/>
          </a:bodyPr>
          <a:lstStyle>
            <a:lvl1pPr algn="l">
              <a:defRPr sz="384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54" y="4937760"/>
            <a:ext cx="10243186" cy="2255520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>
                <a:solidFill>
                  <a:schemeClr val="bg2">
                    <a:lumMod val="7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50659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9694" y="822960"/>
            <a:ext cx="10972801" cy="3291840"/>
          </a:xfrm>
        </p:spPr>
        <p:txBody>
          <a:bodyPr anchor="ctr">
            <a:normAutofit/>
          </a:bodyPr>
          <a:lstStyle>
            <a:lvl1pPr algn="l">
              <a:defRPr sz="384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735454" y="4114800"/>
            <a:ext cx="10241280" cy="4572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56" y="5161281"/>
            <a:ext cx="10241280" cy="2021838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>
                <a:solidFill>
                  <a:schemeClr val="bg2">
                    <a:lumMod val="7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38174" y="9746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2494" y="3322321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3742695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1054" y="4114800"/>
            <a:ext cx="10241280" cy="2036880"/>
          </a:xfrm>
        </p:spPr>
        <p:txBody>
          <a:bodyPr anchor="b">
            <a:normAutofit/>
          </a:bodyPr>
          <a:lstStyle>
            <a:lvl1pPr algn="l">
              <a:defRPr sz="384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53" y="6159577"/>
            <a:ext cx="10243188" cy="1032480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bg2">
                    <a:lumMod val="7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71816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9696" y="822960"/>
            <a:ext cx="10972800" cy="3291840"/>
          </a:xfrm>
        </p:spPr>
        <p:txBody>
          <a:bodyPr anchor="ctr">
            <a:normAutofit/>
          </a:bodyPr>
          <a:lstStyle>
            <a:lvl1pPr algn="l">
              <a:defRPr sz="384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21055" y="4714241"/>
            <a:ext cx="10241281" cy="1259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8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54" y="5974080"/>
            <a:ext cx="10241281" cy="121920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bg2">
                    <a:lumMod val="7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38174" y="9746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2494" y="3322321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8750033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1056" y="822960"/>
            <a:ext cx="12070080" cy="329184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21054" y="4714241"/>
            <a:ext cx="10241280" cy="100584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8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54" y="5720079"/>
            <a:ext cx="10241281" cy="147320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bg2">
                    <a:lumMod val="7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24312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66611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22254" y="822960"/>
            <a:ext cx="246888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22960" y="822960"/>
            <a:ext cx="9387840" cy="637032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49557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69833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55811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52871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77158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37014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54723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59976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6397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4375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1048363" y="3556000"/>
            <a:ext cx="3578230" cy="3850640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1054" y="5384799"/>
            <a:ext cx="10241280" cy="180848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54" y="822961"/>
            <a:ext cx="10241280" cy="4338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885294" y="7406641"/>
            <a:ext cx="1920240" cy="43815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21054" y="7406641"/>
            <a:ext cx="9052560" cy="43815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435841" y="6694171"/>
            <a:ext cx="1370694" cy="80391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84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1571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432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16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44018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92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851660" indent="-20574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8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400300" indent="-20574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8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8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8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8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8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.jp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1.jp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33.svg"/><Relationship Id="rId5" Type="http://schemas.openxmlformats.org/officeDocument/2006/relationships/image" Target="../media/image14.png"/><Relationship Id="rId10" Type="http://schemas.openxmlformats.org/officeDocument/2006/relationships/image" Target="../media/image37.svg"/><Relationship Id="rId4" Type="http://schemas.openxmlformats.org/officeDocument/2006/relationships/image" Target="../media/image32.png"/><Relationship Id="rId9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6.xml"/><Relationship Id="rId5" Type="http://schemas.openxmlformats.org/officeDocument/2006/relationships/hyperlink" Target="https://deepmind.google/" TargetMode="External"/><Relationship Id="rId4" Type="http://schemas.openxmlformats.org/officeDocument/2006/relationships/hyperlink" Target="https://openai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92F314C-2ACC-4E81-B215-F1187343E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93790" y="2638480"/>
            <a:ext cx="13042821" cy="1621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5550"/>
              </a:lnSpc>
            </a:pPr>
            <a:r>
              <a:rPr lang="en-US" sz="4800" b="1" i="1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Flood-Guard</a:t>
            </a:r>
          </a:p>
          <a:p>
            <a:pPr algn="ctr">
              <a:lnSpc>
                <a:spcPts val="5550"/>
              </a:lnSpc>
            </a:pPr>
            <a:r>
              <a:rPr lang="en-US" sz="40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Predicts</a:t>
            </a:r>
            <a:r>
              <a:rPr lang="en-US" sz="4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Flood Possibilities in Bangladesh</a:t>
            </a:r>
            <a:endParaRPr lang="en-US" sz="4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F79E98-83C4-4D2C-8484-4A0BE3B27FDA}"/>
              </a:ext>
            </a:extLst>
          </p:cNvPr>
          <p:cNvSpPr/>
          <p:nvPr/>
        </p:nvSpPr>
        <p:spPr>
          <a:xfrm>
            <a:off x="6255327" y="5153078"/>
            <a:ext cx="748887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buClr>
                <a:schemeClr val="dk1"/>
              </a:buClr>
              <a:buSzPts val="2000"/>
            </a:pPr>
            <a:r>
              <a:rPr lang="en-US" sz="2400" b="1" i="1" dirty="0">
                <a:latin typeface="Heebo Light" panose="020B0604020202020204" charset="-79"/>
                <a:ea typeface="Times New Roman"/>
                <a:cs typeface="Heebo Light" panose="020B0604020202020204" charset="-79"/>
                <a:sym typeface="Times New Roman"/>
              </a:rPr>
              <a:t>Supervised By:</a:t>
            </a:r>
            <a:endParaRPr lang="en-US" sz="2400" i="1" dirty="0">
              <a:latin typeface="Heebo Light" panose="020B0604020202020204" charset="-79"/>
              <a:cs typeface="Heebo Light" panose="020B0604020202020204" charset="-79"/>
            </a:endParaRPr>
          </a:p>
          <a:p>
            <a:pPr lvl="0" algn="r">
              <a:buClr>
                <a:schemeClr val="dk1"/>
              </a:buClr>
              <a:buSzPts val="2000"/>
            </a:pPr>
            <a:r>
              <a:rPr lang="en-US" sz="2400" dirty="0">
                <a:latin typeface="Heebo Light" panose="020B0604020202020204" charset="-79"/>
                <a:ea typeface="Times New Roman"/>
                <a:cs typeface="Heebo Light" panose="020B0604020202020204" charset="-79"/>
                <a:sym typeface="Times New Roman"/>
              </a:rPr>
              <a:t>Mrs. </a:t>
            </a:r>
            <a:r>
              <a:rPr lang="en-US" sz="2400" dirty="0" err="1">
                <a:latin typeface="Heebo Light" panose="020B0604020202020204" charset="-79"/>
                <a:ea typeface="Times New Roman"/>
                <a:cs typeface="Heebo Light" panose="020B0604020202020204" charset="-79"/>
                <a:sym typeface="Times New Roman"/>
              </a:rPr>
              <a:t>Manoara</a:t>
            </a:r>
            <a:r>
              <a:rPr lang="en-US" sz="2400" dirty="0">
                <a:latin typeface="Heebo Light" panose="020B0604020202020204" charset="-79"/>
                <a:ea typeface="Times New Roman"/>
                <a:cs typeface="Heebo Light" panose="020B0604020202020204" charset="-79"/>
                <a:sym typeface="Times New Roman"/>
              </a:rPr>
              <a:t> Begum</a:t>
            </a:r>
            <a:endParaRPr lang="en-US" sz="2400" dirty="0">
              <a:latin typeface="Heebo Light" panose="020B0604020202020204" charset="-79"/>
              <a:cs typeface="Heebo Light" panose="020B0604020202020204" charset="-79"/>
            </a:endParaRPr>
          </a:p>
          <a:p>
            <a:pPr lvl="0" algn="r">
              <a:buClr>
                <a:schemeClr val="dk1"/>
              </a:buClr>
              <a:buSzPts val="2000"/>
            </a:pPr>
            <a:r>
              <a:rPr lang="en-US" sz="2400" dirty="0">
                <a:latin typeface="Heebo Light" panose="020B0604020202020204" charset="-79"/>
                <a:ea typeface="Times New Roman"/>
                <a:cs typeface="Heebo Light" panose="020B0604020202020204" charset="-79"/>
                <a:sym typeface="Times New Roman"/>
              </a:rPr>
              <a:t>Chairman</a:t>
            </a:r>
            <a:endParaRPr lang="en-US" sz="2400" dirty="0">
              <a:latin typeface="Heebo Light" panose="020B0604020202020204" charset="-79"/>
              <a:cs typeface="Heebo Light" panose="020B0604020202020204" charset="-79"/>
            </a:endParaRPr>
          </a:p>
          <a:p>
            <a:pPr lvl="0" algn="r">
              <a:buClr>
                <a:schemeClr val="dk1"/>
              </a:buClr>
              <a:buSzPts val="2000"/>
            </a:pPr>
            <a:r>
              <a:rPr lang="en-US" sz="2400" dirty="0">
                <a:latin typeface="Heebo Light" panose="020B0604020202020204" charset="-79"/>
                <a:ea typeface="Times New Roman"/>
                <a:cs typeface="Heebo Light" panose="020B0604020202020204" charset="-79"/>
                <a:sym typeface="Times New Roman"/>
              </a:rPr>
              <a:t>Dept. of CSE </a:t>
            </a:r>
          </a:p>
          <a:p>
            <a:pPr lvl="0" algn="r">
              <a:buClr>
                <a:schemeClr val="dk1"/>
              </a:buClr>
              <a:buSzPts val="2000"/>
            </a:pPr>
            <a:r>
              <a:rPr lang="en-US" sz="2400" dirty="0">
                <a:latin typeface="Heebo Light" panose="020B0604020202020204" charset="-79"/>
                <a:ea typeface="Times New Roman"/>
                <a:cs typeface="Heebo Light" panose="020B0604020202020204" charset="-79"/>
                <a:sym typeface="Times New Roman"/>
              </a:rPr>
              <a:t>Port City International University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238F3D-6F84-4B1B-8842-8C0BA6B54492}"/>
              </a:ext>
            </a:extLst>
          </p:cNvPr>
          <p:cNvSpPr/>
          <p:nvPr/>
        </p:nvSpPr>
        <p:spPr>
          <a:xfrm>
            <a:off x="886195" y="5153078"/>
            <a:ext cx="310280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chemeClr val="dk1"/>
              </a:buClr>
              <a:buSzPts val="2000"/>
            </a:pPr>
            <a:r>
              <a:rPr lang="en-US" sz="2400" b="1" i="1" dirty="0">
                <a:latin typeface="Heebo Light" panose="020B0604020202020204" charset="-79"/>
                <a:ea typeface="Times New Roman"/>
                <a:cs typeface="Heebo Light" panose="020B0604020202020204" charset="-79"/>
                <a:sym typeface="Times New Roman"/>
              </a:rPr>
              <a:t>Presented By: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US" sz="2400" dirty="0">
                <a:latin typeface="Heebo Light" panose="020B0604020202020204" charset="-79"/>
                <a:ea typeface="Times New Roman"/>
                <a:cs typeface="Heebo Light" panose="020B0604020202020204" charset="-79"/>
                <a:sym typeface="Times New Roman"/>
              </a:rPr>
              <a:t>1. MD Fahad Sikder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US" sz="2400" dirty="0">
                <a:latin typeface="Heebo Light" panose="020B0604020202020204" charset="-79"/>
                <a:ea typeface="Times New Roman"/>
                <a:cs typeface="Heebo Light" panose="020B0604020202020204" charset="-79"/>
                <a:sym typeface="Times New Roman"/>
              </a:rPr>
              <a:t>ID: CSE 029 07725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US" sz="2400" dirty="0">
                <a:latin typeface="Heebo Light" panose="020B0604020202020204" charset="-79"/>
                <a:ea typeface="Times New Roman"/>
                <a:cs typeface="Heebo Light" panose="020B0604020202020204" charset="-79"/>
                <a:sym typeface="Times New Roman"/>
              </a:rPr>
              <a:t>2. </a:t>
            </a:r>
            <a:r>
              <a:rPr lang="en-US" sz="2400" dirty="0" err="1">
                <a:latin typeface="Heebo Light" panose="020B0604020202020204" charset="-79"/>
                <a:ea typeface="Times New Roman"/>
                <a:cs typeface="Heebo Light" panose="020B0604020202020204" charset="-79"/>
                <a:sym typeface="Times New Roman"/>
              </a:rPr>
              <a:t>Sharmin</a:t>
            </a:r>
            <a:r>
              <a:rPr lang="en-US" sz="2400" dirty="0">
                <a:latin typeface="Heebo Light" panose="020B0604020202020204" charset="-79"/>
                <a:ea typeface="Times New Roman"/>
                <a:cs typeface="Heebo Light" panose="020B0604020202020204" charset="-79"/>
                <a:sym typeface="Times New Roman"/>
              </a:rPr>
              <a:t> </a:t>
            </a:r>
            <a:r>
              <a:rPr lang="en-US" sz="2400" dirty="0" err="1">
                <a:latin typeface="Heebo Light" panose="020B0604020202020204" charset="-79"/>
                <a:ea typeface="Times New Roman"/>
                <a:cs typeface="Heebo Light" panose="020B0604020202020204" charset="-79"/>
                <a:sym typeface="Times New Roman"/>
              </a:rPr>
              <a:t>Akter</a:t>
            </a:r>
            <a:endParaRPr lang="en-US" sz="2400" dirty="0">
              <a:latin typeface="Heebo Light" panose="020B0604020202020204" charset="-79"/>
              <a:ea typeface="Times New Roman"/>
              <a:cs typeface="Heebo Light" panose="020B0604020202020204" charset="-79"/>
              <a:sym typeface="Times New Roman"/>
            </a:endParaRPr>
          </a:p>
          <a:p>
            <a:pPr lvl="0">
              <a:buClr>
                <a:schemeClr val="dk1"/>
              </a:buClr>
              <a:buSzPts val="1100"/>
            </a:pPr>
            <a:r>
              <a:rPr lang="en-US" sz="2400" dirty="0">
                <a:latin typeface="Heebo Light" panose="020B0604020202020204" charset="-79"/>
                <a:ea typeface="Times New Roman"/>
                <a:cs typeface="Heebo Light" panose="020B0604020202020204" charset="-79"/>
                <a:sym typeface="Times New Roman"/>
              </a:rPr>
              <a:t>ID: CSE 02907717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3F584D-ED4D-4D1B-AB6E-80BD6E67C026}"/>
              </a:ext>
            </a:extLst>
          </p:cNvPr>
          <p:cNvSpPr/>
          <p:nvPr/>
        </p:nvSpPr>
        <p:spPr>
          <a:xfrm>
            <a:off x="3771900" y="5522410"/>
            <a:ext cx="73152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 sz="2400" dirty="0">
                <a:latin typeface="Heebo Light" panose="020B0604020202020204" charset="-79"/>
                <a:ea typeface="Times New Roman"/>
                <a:cs typeface="Heebo Light" panose="020B0604020202020204" charset="-79"/>
                <a:sym typeface="Times New Roman"/>
              </a:rPr>
              <a:t>3. </a:t>
            </a:r>
            <a:r>
              <a:rPr lang="en-US" sz="2400" dirty="0" err="1">
                <a:latin typeface="Heebo Light" panose="020B0604020202020204" charset="-79"/>
                <a:ea typeface="Times New Roman"/>
                <a:cs typeface="Heebo Light" panose="020B0604020202020204" charset="-79"/>
                <a:sym typeface="Times New Roman"/>
              </a:rPr>
              <a:t>Sabikun</a:t>
            </a:r>
            <a:r>
              <a:rPr lang="en-US" sz="2400" dirty="0">
                <a:latin typeface="Heebo Light" panose="020B0604020202020204" charset="-79"/>
                <a:ea typeface="Times New Roman"/>
                <a:cs typeface="Heebo Light" panose="020B0604020202020204" charset="-79"/>
                <a:sym typeface="Times New Roman"/>
              </a:rPr>
              <a:t> </a:t>
            </a:r>
            <a:r>
              <a:rPr lang="en-US" sz="2400" dirty="0" err="1">
                <a:latin typeface="Heebo Light" panose="020B0604020202020204" charset="-79"/>
                <a:ea typeface="Times New Roman"/>
                <a:cs typeface="Heebo Light" panose="020B0604020202020204" charset="-79"/>
                <a:sym typeface="Times New Roman"/>
              </a:rPr>
              <a:t>Newaz</a:t>
            </a:r>
            <a:r>
              <a:rPr lang="en-US" sz="2400" dirty="0">
                <a:latin typeface="Heebo Light" panose="020B0604020202020204" charset="-79"/>
                <a:ea typeface="Times New Roman"/>
                <a:cs typeface="Heebo Light" panose="020B0604020202020204" charset="-79"/>
                <a:sym typeface="Times New Roman"/>
              </a:rPr>
              <a:t> </a:t>
            </a:r>
            <a:r>
              <a:rPr lang="en-US" sz="2400" dirty="0" err="1">
                <a:latin typeface="Heebo Light" panose="020B0604020202020204" charset="-79"/>
                <a:ea typeface="Times New Roman"/>
                <a:cs typeface="Heebo Light" panose="020B0604020202020204" charset="-79"/>
                <a:sym typeface="Times New Roman"/>
              </a:rPr>
              <a:t>Chy</a:t>
            </a:r>
            <a:endParaRPr lang="en-US" sz="2400" dirty="0">
              <a:latin typeface="Heebo Light" panose="020B0604020202020204" charset="-79"/>
              <a:ea typeface="Times New Roman"/>
              <a:cs typeface="Heebo Light" panose="020B0604020202020204" charset="-79"/>
              <a:sym typeface="Times New Roman"/>
            </a:endParaRPr>
          </a:p>
          <a:p>
            <a:pPr lvl="0">
              <a:buClr>
                <a:schemeClr val="dk1"/>
              </a:buClr>
              <a:buSzPts val="1100"/>
            </a:pPr>
            <a:r>
              <a:rPr lang="en-US" sz="2400" dirty="0">
                <a:latin typeface="Heebo Light" panose="020B0604020202020204" charset="-79"/>
                <a:ea typeface="Times New Roman"/>
                <a:cs typeface="Heebo Light" panose="020B0604020202020204" charset="-79"/>
                <a:sym typeface="Times New Roman"/>
              </a:rPr>
              <a:t>ID:CSE 029 07726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US" sz="2400" dirty="0">
                <a:latin typeface="Heebo Light" panose="020B0604020202020204" charset="-79"/>
                <a:ea typeface="Times New Roman"/>
                <a:cs typeface="Heebo Light" panose="020B0604020202020204" charset="-79"/>
                <a:sym typeface="Times New Roman"/>
              </a:rPr>
              <a:t>4. </a:t>
            </a:r>
            <a:r>
              <a:rPr lang="en-US" sz="2400" dirty="0" err="1">
                <a:latin typeface="Heebo Light" panose="020B0604020202020204" charset="-79"/>
                <a:ea typeface="Times New Roman"/>
                <a:cs typeface="Heebo Light" panose="020B0604020202020204" charset="-79"/>
                <a:sym typeface="Times New Roman"/>
              </a:rPr>
              <a:t>Sakil</a:t>
            </a:r>
            <a:r>
              <a:rPr lang="en-US" sz="2400" dirty="0">
                <a:latin typeface="Heebo Light" panose="020B0604020202020204" charset="-79"/>
                <a:ea typeface="Times New Roman"/>
                <a:cs typeface="Heebo Light" panose="020B0604020202020204" charset="-79"/>
                <a:sym typeface="Times New Roman"/>
              </a:rPr>
              <a:t> Uddin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US" sz="2400" dirty="0">
                <a:latin typeface="Heebo Light" panose="020B0604020202020204" charset="-79"/>
                <a:ea typeface="Times New Roman"/>
                <a:cs typeface="Heebo Light" panose="020B0604020202020204" charset="-79"/>
                <a:sym typeface="Times New Roman"/>
              </a:rPr>
              <a:t>ID: CSE 029 07744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7E00FA1-D12B-4027-A76E-25FAEE2B66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2879" y="-1276481"/>
            <a:ext cx="10064641" cy="56613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92F314C-2ACC-4E81-B215-F1187343E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1" name="Text 0">
            <a:extLst>
              <a:ext uri="{FF2B5EF4-FFF2-40B4-BE49-F238E27FC236}">
                <a16:creationId xmlns:a16="http://schemas.microsoft.com/office/drawing/2014/main" id="{F0D1DC63-7F00-4979-8B28-71F9D44EC7E2}"/>
              </a:ext>
            </a:extLst>
          </p:cNvPr>
          <p:cNvSpPr/>
          <p:nvPr/>
        </p:nvSpPr>
        <p:spPr>
          <a:xfrm>
            <a:off x="793790" y="1866543"/>
            <a:ext cx="36373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Contents</a:t>
            </a:r>
            <a:endParaRPr lang="en-US" sz="32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251F355A-7A41-41DB-AF2B-8081F6395D3D}"/>
              </a:ext>
            </a:extLst>
          </p:cNvPr>
          <p:cNvSpPr/>
          <p:nvPr/>
        </p:nvSpPr>
        <p:spPr>
          <a:xfrm>
            <a:off x="1717098" y="2802363"/>
            <a:ext cx="3881005" cy="3321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Introduction &amp; Motivation            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Problem Statement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Objectives            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Literature Review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Methodology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Dataset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System Requirements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</a:t>
            </a: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1CB39371-34C0-4F16-8D47-51198C950B28}"/>
              </a:ext>
            </a:extLst>
          </p:cNvPr>
          <p:cNvSpPr/>
          <p:nvPr/>
        </p:nvSpPr>
        <p:spPr>
          <a:xfrm>
            <a:off x="7315200" y="2802363"/>
            <a:ext cx="3881005" cy="3321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Pre Processing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Results &amp; Discussion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Result Summary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Comparison Analysis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Conclusion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8515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F6977A24-3D13-4A2C-A241-6DAD46FEA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1" y="0"/>
            <a:ext cx="14630400" cy="82296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93790" y="1866543"/>
            <a:ext cx="36373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 &amp; Motivation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93790" y="2674501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0D0A2C">
              <a:alpha val="95000"/>
            </a:srgbClr>
          </a:solidFill>
          <a:ln w="30480">
            <a:solidFill>
              <a:srgbClr val="4A2C85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10" y="2674501"/>
            <a:ext cx="121920" cy="17308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2524" y="29317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42524" y="3422213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Bangladesh is a climate-vulnerable nation facing annual flooding disasters.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428548" y="2674501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0D0A2C">
              <a:alpha val="95000"/>
            </a:srgbClr>
          </a:solidFill>
          <a:ln w="30480">
            <a:solidFill>
              <a:srgbClr val="4A2C85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8067" y="2674501"/>
            <a:ext cx="121920" cy="17308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7282" y="29317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777282" y="3422213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Traditional forecasting often fails to capture non-linear climate shifts.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793790" y="4632127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0D0A2C">
              <a:alpha val="95000"/>
            </a:srgbClr>
          </a:solidFill>
          <a:ln w="30480">
            <a:solidFill>
              <a:srgbClr val="4A2C85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10" y="4632127"/>
            <a:ext cx="121920" cy="17308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2524" y="48894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Motivation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142524" y="5379839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We need an automated, data-driven system to predict </a:t>
            </a:r>
            <a:r>
              <a:rPr lang="en-US" sz="175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exact</a:t>
            </a: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rainfall amounts for early disaster preparedness.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7428548" y="4632127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0D0A2C">
              <a:alpha val="95000"/>
            </a:srgbClr>
          </a:solidFill>
          <a:ln w="30480">
            <a:solidFill>
              <a:srgbClr val="4A2C85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8067" y="4632127"/>
            <a:ext cx="121920" cy="17308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77282" y="48894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Goal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777282" y="5379839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Bridge the gap between historical patterns and modern anomalies using ML.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35C79BB-D8A6-4787-B60A-D5FFDE4C2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93790" y="26830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93790" y="349103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30906" y="353353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Issue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530906" y="4094917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Existing flood warnings rely on static thresholds or expensive physical simulations.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35893" y="349103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73008" y="353353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Gap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5973008" y="4094917"/>
            <a:ext cx="342149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Few systems use a "Consensus Approach" combining traditional ML stability with Deep Learning sensitivity.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77995" y="349103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15111" y="353353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Challenge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10415111" y="4094917"/>
            <a:ext cx="342149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Accurately forecasting monthly rainfall and temperature using limited historical features (Month/Year) from 1901–2020.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7C1C8AD-3E64-4FA9-9A02-158FE8468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93790" y="2536031"/>
            <a:ext cx="28705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93790" y="334398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699034"/>
            <a:ext cx="4196358" cy="3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87334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Primary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93790" y="4434721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Develop a model to forecast Rainfall (mm) and Temperature (°C) with &gt;80% accuracy.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16962" y="334398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962" y="3699034"/>
            <a:ext cx="4196358" cy="3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6962" y="387334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Secondary</a:t>
            </a:r>
            <a:endParaRPr lang="en-US" sz="2650" dirty="0"/>
          </a:p>
        </p:txBody>
      </p:sp>
      <p:sp>
        <p:nvSpPr>
          <p:cNvPr id="10" name="Text 6"/>
          <p:cNvSpPr/>
          <p:nvPr/>
        </p:nvSpPr>
        <p:spPr>
          <a:xfrm>
            <a:off x="5216962" y="4434721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Implement and compare Random Forest (ML) vs. Artificial Neural Networks (DL).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9640133" y="334398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133" y="3699034"/>
            <a:ext cx="4196358" cy="30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40133" y="387334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 Goal</a:t>
            </a:r>
            <a:endParaRPr lang="en-US" sz="2650" dirty="0"/>
          </a:p>
        </p:txBody>
      </p:sp>
      <p:sp>
        <p:nvSpPr>
          <p:cNvPr id="14" name="Text 9"/>
          <p:cNvSpPr/>
          <p:nvPr/>
        </p:nvSpPr>
        <p:spPr>
          <a:xfrm>
            <a:off x="9640133" y="4434721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Create a "Flood Risk Alert" system triggering at the 300mm danger threshold.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56D50ECF-F52A-4354-985D-3CACA616B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93790" y="10089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Literature Review</a:t>
            </a:r>
            <a:endParaRPr lang="en-US" sz="3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688" y="3146941"/>
            <a:ext cx="680442" cy="680442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4860" y="3146941"/>
            <a:ext cx="680442" cy="680442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8032" y="3146941"/>
            <a:ext cx="680442" cy="680442"/>
          </a:xfrm>
          <a:prstGeom prst="rect">
            <a:avLst/>
          </a:prstGeom>
        </p:spPr>
      </p:pic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04D6A265-E60E-46DC-97A6-2A70E1D0E3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215946"/>
              </p:ext>
            </p:extLst>
          </p:nvPr>
        </p:nvGraphicFramePr>
        <p:xfrm>
          <a:off x="793789" y="1868503"/>
          <a:ext cx="13098856" cy="483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442">
                  <a:extLst>
                    <a:ext uri="{9D8B030D-6E8A-4147-A177-3AD203B41FA5}">
                      <a16:colId xmlns:a16="http://schemas.microsoft.com/office/drawing/2014/main" val="813638926"/>
                    </a:ext>
                  </a:extLst>
                </a:gridCol>
                <a:gridCol w="2393589">
                  <a:extLst>
                    <a:ext uri="{9D8B030D-6E8A-4147-A177-3AD203B41FA5}">
                      <a16:colId xmlns:a16="http://schemas.microsoft.com/office/drawing/2014/main" val="1886806045"/>
                    </a:ext>
                  </a:extLst>
                </a:gridCol>
                <a:gridCol w="1855580">
                  <a:extLst>
                    <a:ext uri="{9D8B030D-6E8A-4147-A177-3AD203B41FA5}">
                      <a16:colId xmlns:a16="http://schemas.microsoft.com/office/drawing/2014/main" val="3830056346"/>
                    </a:ext>
                  </a:extLst>
                </a:gridCol>
                <a:gridCol w="1883918">
                  <a:extLst>
                    <a:ext uri="{9D8B030D-6E8A-4147-A177-3AD203B41FA5}">
                      <a16:colId xmlns:a16="http://schemas.microsoft.com/office/drawing/2014/main" val="2568868291"/>
                    </a:ext>
                  </a:extLst>
                </a:gridCol>
                <a:gridCol w="3737721">
                  <a:extLst>
                    <a:ext uri="{9D8B030D-6E8A-4147-A177-3AD203B41FA5}">
                      <a16:colId xmlns:a16="http://schemas.microsoft.com/office/drawing/2014/main" val="3986864569"/>
                    </a:ext>
                  </a:extLst>
                </a:gridCol>
                <a:gridCol w="2382606">
                  <a:extLst>
                    <a:ext uri="{9D8B030D-6E8A-4147-A177-3AD203B41FA5}">
                      <a16:colId xmlns:a16="http://schemas.microsoft.com/office/drawing/2014/main" val="2422936621"/>
                    </a:ext>
                  </a:extLst>
                </a:gridCol>
              </a:tblGrid>
              <a:tr h="827656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Heebo Light" panose="020B0604020202020204" charset="-79"/>
                        <a:cs typeface="Heebo Light" panose="020B0604020202020204" charset="-79"/>
                      </a:endParaRPr>
                    </a:p>
                    <a:p>
                      <a:pPr algn="ctr"/>
                      <a:r>
                        <a:rPr lang="en-US" sz="1600" dirty="0">
                          <a:latin typeface="Heebo Light" panose="020B0604020202020204" charset="-79"/>
                          <a:cs typeface="Heebo Light" panose="020B0604020202020204" charset="-79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Heebo Light" panose="020B0604020202020204" charset="-79"/>
                        <a:cs typeface="Heebo Light" panose="020B0604020202020204" charset="-79"/>
                      </a:endParaRPr>
                    </a:p>
                    <a:p>
                      <a:pPr algn="ctr"/>
                      <a:r>
                        <a:rPr lang="en-US" sz="1600" dirty="0">
                          <a:latin typeface="Heebo Light" panose="020B0604020202020204" charset="-79"/>
                          <a:cs typeface="Heebo Light" panose="020B0604020202020204" charset="-79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Heebo Light" panose="020B0604020202020204" charset="-79"/>
                        <a:cs typeface="Heebo Light" panose="020B0604020202020204" charset="-79"/>
                      </a:endParaRPr>
                    </a:p>
                    <a:p>
                      <a:pPr algn="ctr"/>
                      <a:r>
                        <a:rPr lang="en-US" sz="1600" dirty="0">
                          <a:latin typeface="Heebo Light" panose="020B0604020202020204" charset="-79"/>
                          <a:cs typeface="Heebo Light" panose="020B0604020202020204" charset="-79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Heebo Light" panose="020B0604020202020204" charset="-79"/>
                        <a:cs typeface="Heebo Light" panose="020B0604020202020204" charset="-79"/>
                      </a:endParaRPr>
                    </a:p>
                    <a:p>
                      <a:pPr algn="ctr"/>
                      <a:r>
                        <a:rPr lang="en-US" sz="1600" dirty="0">
                          <a:latin typeface="Heebo Light" panose="020B0604020202020204" charset="-79"/>
                          <a:cs typeface="Heebo Light" panose="020B0604020202020204" charset="-79"/>
                        </a:rPr>
                        <a:t>Publisher &amp; Year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Heebo Light" panose="020B0604020202020204" charset="-79"/>
                        <a:cs typeface="Heebo Light" panose="020B0604020202020204" charset="-79"/>
                      </a:endParaRPr>
                    </a:p>
                    <a:p>
                      <a:pPr algn="ctr"/>
                      <a:r>
                        <a:rPr lang="en-US" sz="1600" dirty="0">
                          <a:latin typeface="Heebo Light" panose="020B0604020202020204" charset="-79"/>
                          <a:cs typeface="Heebo Light" panose="020B0604020202020204" charset="-79"/>
                        </a:rPr>
                        <a:t>Key Contribution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Heebo Light" panose="020B0604020202020204" charset="-79"/>
                        <a:cs typeface="Heebo Light" panose="020B0604020202020204" charset="-79"/>
                      </a:endParaRPr>
                    </a:p>
                    <a:p>
                      <a:pPr algn="ctr"/>
                      <a:r>
                        <a:rPr lang="en-US" sz="1600" dirty="0">
                          <a:latin typeface="Heebo Light" panose="020B0604020202020204" charset="-79"/>
                          <a:cs typeface="Heebo Light" panose="020B0604020202020204" charset="-79"/>
                        </a:rPr>
                        <a:t>Dataset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65237"/>
                  </a:ext>
                </a:extLst>
              </a:tr>
              <a:tr h="1335514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Heebo Light" panose="020B0604020202020204" charset="-79"/>
                        <a:cs typeface="Heebo Light" panose="020B0604020202020204" charset="-79"/>
                      </a:endParaRPr>
                    </a:p>
                    <a:p>
                      <a:pPr algn="ctr"/>
                      <a:endParaRPr lang="en-US" sz="1600" dirty="0">
                        <a:latin typeface="Heebo Light" panose="020B0604020202020204" charset="-79"/>
                        <a:cs typeface="Heebo Light" panose="020B0604020202020204" charset="-79"/>
                      </a:endParaRPr>
                    </a:p>
                    <a:p>
                      <a:pPr algn="ctr"/>
                      <a:r>
                        <a:rPr lang="en-US" sz="1600" dirty="0">
                          <a:latin typeface="Heebo Light" panose="020B0604020202020204" charset="-79"/>
                          <a:cs typeface="Heebo Light" panose="020B0604020202020204" charset="-79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Heebo Light" panose="020B0604020202020204" charset="-79"/>
                        <a:cs typeface="Heebo Light" panose="020B0604020202020204" charset="-79"/>
                      </a:endParaRPr>
                    </a:p>
                    <a:p>
                      <a:pPr algn="ctr"/>
                      <a:endParaRPr lang="en-US" sz="1600" dirty="0">
                        <a:latin typeface="Heebo Light" panose="020B0604020202020204" charset="-79"/>
                        <a:cs typeface="Heebo Light" panose="020B0604020202020204" charset="-79"/>
                      </a:endParaRPr>
                    </a:p>
                    <a:p>
                      <a:pPr algn="ctr"/>
                      <a:r>
                        <a:rPr lang="en-US" sz="1600" dirty="0">
                          <a:latin typeface="Heebo Light" panose="020B0604020202020204" charset="-79"/>
                          <a:cs typeface="Heebo Light" panose="020B0604020202020204" charset="-79"/>
                        </a:rPr>
                        <a:t>Prediction of Rainfall in Bangladesh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Heebo Light" panose="020B0604020202020204" charset="-79"/>
                        <a:cs typeface="Heebo Light" panose="020B0604020202020204" charset="-79"/>
                      </a:endParaRPr>
                    </a:p>
                    <a:p>
                      <a:pPr algn="ctr"/>
                      <a:r>
                        <a:rPr lang="en-US" sz="1600" dirty="0" err="1">
                          <a:latin typeface="Heebo Light" panose="020B0604020202020204" charset="-79"/>
                          <a:cs typeface="Heebo Light" panose="020B0604020202020204" charset="-79"/>
                        </a:rPr>
                        <a:t>Mahfuz</a:t>
                      </a:r>
                      <a:r>
                        <a:rPr lang="en-US" sz="1600" dirty="0">
                          <a:latin typeface="Heebo Light" panose="020B0604020202020204" charset="-79"/>
                          <a:cs typeface="Heebo Light" panose="020B0604020202020204" charset="-79"/>
                        </a:rPr>
                        <a:t> Ahmed </a:t>
                      </a:r>
                      <a:r>
                        <a:rPr lang="en-US" sz="1600" dirty="0" err="1">
                          <a:latin typeface="Heebo Light" panose="020B0604020202020204" charset="-79"/>
                          <a:cs typeface="Heebo Light" panose="020B0604020202020204" charset="-79"/>
                        </a:rPr>
                        <a:t>Azmain</a:t>
                      </a:r>
                      <a:endParaRPr lang="en-US" sz="1600" dirty="0">
                        <a:latin typeface="Heebo Light" panose="020B0604020202020204" charset="-79"/>
                        <a:cs typeface="Heebo Light" panose="020B0604020202020204" charset="-79"/>
                      </a:endParaRPr>
                    </a:p>
                    <a:p>
                      <a:pPr algn="ctr"/>
                      <a:r>
                        <a:rPr lang="en-US" sz="1600" dirty="0">
                          <a:latin typeface="Heebo Light" panose="020B0604020202020204" charset="-79"/>
                          <a:cs typeface="Heebo Light" panose="020B0604020202020204" charset="-79"/>
                        </a:rPr>
                        <a:t>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Heebo Light" panose="020B0604020202020204" charset="-79"/>
                        <a:cs typeface="Heebo Light" panose="020B0604020202020204" charset="-79"/>
                      </a:endParaRPr>
                    </a:p>
                    <a:p>
                      <a:pPr algn="ctr"/>
                      <a:endParaRPr lang="en-US" sz="1600" dirty="0">
                        <a:latin typeface="Heebo Light" panose="020B0604020202020204" charset="-79"/>
                        <a:cs typeface="Heebo Light" panose="020B0604020202020204" charset="-79"/>
                      </a:endParaRPr>
                    </a:p>
                    <a:p>
                      <a:pPr algn="ctr"/>
                      <a:r>
                        <a:rPr lang="en-US" sz="1600" dirty="0">
                          <a:latin typeface="Heebo Light" panose="020B0604020202020204" charset="-79"/>
                          <a:cs typeface="Heebo Light" panose="020B0604020202020204" charset="-79"/>
                        </a:rPr>
                        <a:t>IEEE (2022)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Heebo Light" panose="020B0604020202020204" charset="-79"/>
                        <a:cs typeface="Heebo Light" panose="020B0604020202020204" charset="-79"/>
                      </a:endParaRPr>
                    </a:p>
                    <a:p>
                      <a:pPr algn="ctr"/>
                      <a:r>
                        <a:rPr lang="en-US" sz="1600" dirty="0">
                          <a:latin typeface="Heebo Light" panose="020B0604020202020204" charset="-79"/>
                          <a:cs typeface="Heebo Light" panose="020B0604020202020204" charset="-79"/>
                        </a:rPr>
                        <a:t>Random Forest achieved strong baseline performance with 91% accuracy for regional rainfall prediction.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Heebo Light" panose="020B0604020202020204" charset="-79"/>
                        <a:cs typeface="Heebo Light" panose="020B0604020202020204" charset="-79"/>
                      </a:endParaRPr>
                    </a:p>
                    <a:p>
                      <a:pPr algn="ctr"/>
                      <a:r>
                        <a:rPr lang="en-US" sz="1600" dirty="0">
                          <a:latin typeface="Heebo Light" panose="020B0604020202020204" charset="-79"/>
                          <a:cs typeface="Heebo Light" panose="020B0604020202020204" charset="-79"/>
                        </a:rPr>
                        <a:t>Bangladesh Regional Rainfall Data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828675"/>
                  </a:ext>
                </a:extLst>
              </a:tr>
              <a:tr h="1475509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Heebo Light" panose="020B0604020202020204" charset="-79"/>
                        <a:cs typeface="Heebo Light" panose="020B0604020202020204" charset="-79"/>
                      </a:endParaRPr>
                    </a:p>
                    <a:p>
                      <a:pPr algn="ctr"/>
                      <a:endParaRPr lang="en-US" sz="1600" dirty="0">
                        <a:latin typeface="Heebo Light" panose="020B0604020202020204" charset="-79"/>
                        <a:cs typeface="Heebo Light" panose="020B0604020202020204" charset="-79"/>
                      </a:endParaRPr>
                    </a:p>
                    <a:p>
                      <a:pPr algn="ctr"/>
                      <a:r>
                        <a:rPr lang="en-US" sz="1600" dirty="0">
                          <a:latin typeface="Heebo Light" panose="020B0604020202020204" charset="-79"/>
                          <a:cs typeface="Heebo Light" panose="020B0604020202020204" charset="-79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Heebo Light" panose="020B0604020202020204" charset="-79"/>
                        <a:cs typeface="Heebo Light" panose="020B0604020202020204" charset="-79"/>
                      </a:endParaRPr>
                    </a:p>
                    <a:p>
                      <a:pPr algn="ctr"/>
                      <a:r>
                        <a:rPr lang="en-US" sz="1600" dirty="0">
                          <a:latin typeface="Heebo Light" panose="020B0604020202020204" charset="-79"/>
                          <a:cs typeface="Heebo Light" panose="020B0604020202020204" charset="-79"/>
                        </a:rPr>
                        <a:t>Flood Prediction in Bangladesh Using Machine Learning and Explainable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latin typeface="Heebo Light" panose="020B0604020202020204" charset="-79"/>
                        <a:cs typeface="Heebo Light" panose="020B0604020202020204" charset="-79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latin typeface="Heebo Light" panose="020B0604020202020204" charset="-79"/>
                          <a:cs typeface="Heebo Light" panose="020B0604020202020204" charset="-79"/>
                        </a:rPr>
                        <a:t>Refat</a:t>
                      </a:r>
                      <a:r>
                        <a:rPr lang="en-US" sz="1600" dirty="0">
                          <a:latin typeface="Heebo Light" panose="020B0604020202020204" charset="-79"/>
                          <a:cs typeface="Heebo Light" panose="020B0604020202020204" charset="-79"/>
                        </a:rPr>
                        <a:t> </a:t>
                      </a:r>
                      <a:r>
                        <a:rPr lang="en-US" sz="1600" dirty="0" err="1">
                          <a:latin typeface="Heebo Light" panose="020B0604020202020204" charset="-79"/>
                          <a:cs typeface="Heebo Light" panose="020B0604020202020204" charset="-79"/>
                        </a:rPr>
                        <a:t>Ishrak</a:t>
                      </a:r>
                      <a:r>
                        <a:rPr lang="en-US" sz="1600" dirty="0">
                          <a:latin typeface="Heebo Light" panose="020B0604020202020204" charset="-79"/>
                          <a:cs typeface="Heebo Light" panose="020B0604020202020204" charset="-79"/>
                        </a:rPr>
                        <a:t> </a:t>
                      </a:r>
                      <a:r>
                        <a:rPr lang="en-US" sz="1600" dirty="0" err="1">
                          <a:latin typeface="Heebo Light" panose="020B0604020202020204" charset="-79"/>
                          <a:cs typeface="Heebo Light" panose="020B0604020202020204" charset="-79"/>
                        </a:rPr>
                        <a:t>Hemel</a:t>
                      </a:r>
                      <a:r>
                        <a:rPr lang="en-US" sz="1600" dirty="0">
                          <a:latin typeface="Heebo Light" panose="020B0604020202020204" charset="-79"/>
                          <a:cs typeface="Heebo Light" panose="020B0604020202020204" charset="-79"/>
                        </a:rPr>
                        <a:t>, </a:t>
                      </a:r>
                      <a:r>
                        <a:rPr lang="en-US" sz="1600" dirty="0" err="1">
                          <a:latin typeface="Heebo Light" panose="020B0604020202020204" charset="-79"/>
                          <a:cs typeface="Heebo Light" panose="020B0604020202020204" charset="-79"/>
                        </a:rPr>
                        <a:t>Sadman</a:t>
                      </a:r>
                      <a:r>
                        <a:rPr lang="en-US" sz="1600" dirty="0">
                          <a:latin typeface="Heebo Light" panose="020B0604020202020204" charset="-79"/>
                          <a:cs typeface="Heebo Light" panose="020B0604020202020204" charset="-79"/>
                        </a:rPr>
                        <a:t> </a:t>
                      </a:r>
                      <a:r>
                        <a:rPr lang="en-US" sz="1600" dirty="0" err="1">
                          <a:latin typeface="Heebo Light" panose="020B0604020202020204" charset="-79"/>
                          <a:cs typeface="Heebo Light" panose="020B0604020202020204" charset="-79"/>
                        </a:rPr>
                        <a:t>Sakib</a:t>
                      </a:r>
                      <a:endParaRPr lang="en-US" sz="1600" dirty="0">
                        <a:latin typeface="Heebo Light" panose="020B0604020202020204" charset="-79"/>
                        <a:cs typeface="Heebo Light" panose="020B0604020202020204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Heebo Light" panose="020B0604020202020204" charset="-79"/>
                        <a:cs typeface="Heebo Light" panose="020B0604020202020204" charset="-79"/>
                      </a:endParaRPr>
                    </a:p>
                    <a:p>
                      <a:pPr algn="ctr"/>
                      <a:endParaRPr lang="en-US" sz="1600" dirty="0">
                        <a:latin typeface="Heebo Light" panose="020B0604020202020204" charset="-79"/>
                        <a:cs typeface="Heebo Light" panose="020B0604020202020204" charset="-79"/>
                      </a:endParaRPr>
                    </a:p>
                    <a:p>
                      <a:pPr algn="ctr"/>
                      <a:r>
                        <a:rPr lang="en-US" sz="1600" dirty="0">
                          <a:latin typeface="Heebo Light" panose="020B0604020202020204" charset="-79"/>
                          <a:cs typeface="Heebo Light" panose="020B0604020202020204" charset="-79"/>
                        </a:rPr>
                        <a:t>IEEE (2024)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Heebo Light" panose="020B0604020202020204" charset="-79"/>
                        <a:cs typeface="Heebo Light" panose="020B0604020202020204" charset="-79"/>
                      </a:endParaRPr>
                    </a:p>
                    <a:p>
                      <a:pPr algn="ctr"/>
                      <a:r>
                        <a:rPr lang="en-US" sz="1600" dirty="0">
                          <a:latin typeface="Heebo Light" panose="020B0604020202020204" charset="-79"/>
                          <a:cs typeface="Heebo Light" panose="020B0604020202020204" charset="-79"/>
                        </a:rPr>
                        <a:t>Demonstrated the importance of explainable models to interpret flood prediction decisions.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Heebo Light" panose="020B0604020202020204" charset="-79"/>
                        <a:cs typeface="Heebo Light" panose="020B0604020202020204" charset="-79"/>
                      </a:endParaRPr>
                    </a:p>
                    <a:p>
                      <a:pPr algn="ctr"/>
                      <a:r>
                        <a:rPr lang="en-US" sz="1600" dirty="0">
                          <a:latin typeface="Heebo Light" panose="020B0604020202020204" charset="-79"/>
                          <a:cs typeface="Heebo Light" panose="020B0604020202020204" charset="-79"/>
                        </a:rPr>
                        <a:t>Meteorological &amp; Hydrological Data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504858"/>
                  </a:ext>
                </a:extLst>
              </a:tr>
              <a:tr h="1195161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Heebo Light" panose="020B0604020202020204" charset="-79"/>
                        <a:cs typeface="Heebo Light" panose="020B0604020202020204" charset="-79"/>
                      </a:endParaRPr>
                    </a:p>
                    <a:p>
                      <a:pPr algn="ctr"/>
                      <a:endParaRPr lang="en-US" sz="1600" dirty="0">
                        <a:latin typeface="Heebo Light" panose="020B0604020202020204" charset="-79"/>
                        <a:cs typeface="Heebo Light" panose="020B0604020202020204" charset="-79"/>
                      </a:endParaRPr>
                    </a:p>
                    <a:p>
                      <a:pPr algn="ctr"/>
                      <a:r>
                        <a:rPr lang="en-US" sz="1600" dirty="0">
                          <a:latin typeface="Heebo Light" panose="020B0604020202020204" charset="-79"/>
                          <a:cs typeface="Heebo Light" panose="020B0604020202020204" charset="-79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eebo Light" panose="020B0604020202020204" charset="-79"/>
                          <a:cs typeface="Heebo Light" panose="020B0604020202020204" charset="-79"/>
                        </a:rPr>
                        <a:t>Relations of Water-logging with Heavy Rainfall in Dhaka City (1991-2021)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latin typeface="Heebo Light" panose="020B0604020202020204" charset="-79"/>
                        <a:cs typeface="Heebo Light" panose="020B0604020202020204" charset="-79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Heebo Light" panose="020B0604020202020204" charset="-79"/>
                          <a:cs typeface="Heebo Light" panose="020B0604020202020204" charset="-79"/>
                        </a:rPr>
                        <a:t>Mohammad Nazrul Islam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Heebo Light" panose="020B0604020202020204" charset="-79"/>
                        <a:cs typeface="Heebo Light" panose="020B0604020202020204" charset="-79"/>
                      </a:endParaRPr>
                    </a:p>
                    <a:p>
                      <a:pPr algn="ctr"/>
                      <a:r>
                        <a:rPr lang="en-US" sz="1600" dirty="0">
                          <a:latin typeface="Heebo Light" panose="020B0604020202020204" charset="-79"/>
                          <a:cs typeface="Heebo Light" panose="020B0604020202020204" charset="-79"/>
                        </a:rPr>
                        <a:t>JETIR (2022)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Heebo Light" panose="020B0604020202020204" charset="-79"/>
                        <a:cs typeface="Heebo Light" panose="020B0604020202020204" charset="-79"/>
                      </a:endParaRPr>
                    </a:p>
                    <a:p>
                      <a:pPr algn="ctr"/>
                      <a:r>
                        <a:rPr lang="en-US" sz="1600" dirty="0">
                          <a:latin typeface="Heebo Light" panose="020B0604020202020204" charset="-79"/>
                          <a:cs typeface="Heebo Light" panose="020B0604020202020204" charset="-79"/>
                        </a:rPr>
                        <a:t>Identified 300 mm monthly rainfall as a critical threshold causing urban flooding.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Heebo Light" panose="020B0604020202020204" charset="-79"/>
                        <a:cs typeface="Heebo Light" panose="020B0604020202020204" charset="-79"/>
                      </a:endParaRPr>
                    </a:p>
                    <a:p>
                      <a:pPr algn="ctr"/>
                      <a:r>
                        <a:rPr lang="en-US" sz="1600" dirty="0">
                          <a:latin typeface="Heebo Light" panose="020B0604020202020204" charset="-79"/>
                          <a:cs typeface="Heebo Light" panose="020B0604020202020204" charset="-79"/>
                        </a:rPr>
                        <a:t>Dhaka Urban Rainfall Data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393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13743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DC3F37BC-9FDA-42DA-8A26-ACCA91150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93790" y="689253"/>
            <a:ext cx="2964537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32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Methodology Overview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1416368"/>
            <a:ext cx="1020723" cy="12247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8586" y="1620441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1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2018586" y="2061686"/>
            <a:ext cx="11818025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Data Collection (BMD Archives 1901-2020).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2641163"/>
            <a:ext cx="1020723" cy="12247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018586" y="2845237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2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2018586" y="3286482"/>
            <a:ext cx="11818025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Preprocessing (Scaling &amp; Cleaning).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3865959"/>
            <a:ext cx="1020723" cy="12247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018586" y="407003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3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2018586" y="4511278"/>
            <a:ext cx="11818025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5090755"/>
            <a:ext cx="1020723" cy="12247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018586" y="529482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4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2018586" y="5736074"/>
            <a:ext cx="11818025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1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Model Training (Model A: Random Forest, Model B: ANN).</a:t>
            </a:r>
            <a:endParaRPr lang="en-US" sz="16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790" y="6315551"/>
            <a:ext cx="1020723" cy="122479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018586" y="651962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5</a:t>
            </a:r>
            <a:endParaRPr lang="en-US" sz="2000" dirty="0"/>
          </a:p>
        </p:txBody>
      </p:sp>
      <p:sp>
        <p:nvSpPr>
          <p:cNvPr id="17" name="Text 10"/>
          <p:cNvSpPr/>
          <p:nvPr/>
        </p:nvSpPr>
        <p:spPr>
          <a:xfrm>
            <a:off x="2018586" y="6960870"/>
            <a:ext cx="11818025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Model Evaluation</a:t>
            </a:r>
            <a:endParaRPr lang="en-US" sz="16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A1F6B1F-F736-4432-9188-20418E4013D7}"/>
              </a:ext>
            </a:extLst>
          </p:cNvPr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454" y="3312729"/>
            <a:ext cx="6826827" cy="2331255"/>
          </a:xfrm>
          <a:prstGeom prst="rect">
            <a:avLst/>
          </a:prstGeom>
        </p:spPr>
      </p:pic>
      <p:sp>
        <p:nvSpPr>
          <p:cNvPr id="21" name="Text 8">
            <a:extLst>
              <a:ext uri="{FF2B5EF4-FFF2-40B4-BE49-F238E27FC236}">
                <a16:creationId xmlns:a16="http://schemas.microsoft.com/office/drawing/2014/main" id="{5AEA4917-5EC7-4367-B987-590F53838887}"/>
              </a:ext>
            </a:extLst>
          </p:cNvPr>
          <p:cNvSpPr/>
          <p:nvPr/>
        </p:nvSpPr>
        <p:spPr>
          <a:xfrm>
            <a:off x="2018586" y="4482928"/>
            <a:ext cx="11818025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1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Data Splitting for Training and Testing</a:t>
            </a:r>
            <a:endParaRPr lang="en-US" sz="1600" dirty="0"/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5F1DE050-75E4-4BAD-B561-662921D9891F}"/>
              </a:ext>
            </a:extLst>
          </p:cNvPr>
          <p:cNvSpPr/>
          <p:nvPr/>
        </p:nvSpPr>
        <p:spPr>
          <a:xfrm>
            <a:off x="8382767" y="5393261"/>
            <a:ext cx="5024199" cy="909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550"/>
              </a:lnSpc>
              <a:buNone/>
            </a:pPr>
            <a:r>
              <a:rPr lang="en-US" sz="1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Fig 1: Architecture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FD4A60E-B3D5-4BDD-8EAF-E9A0F81D5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93790" y="7406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Dataset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7591901" y="3170159"/>
            <a:ext cx="6789117" cy="80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Source:</a:t>
            </a:r>
            <a:r>
              <a:rPr lang="en-US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Bangladesh Meteorological Department (BMD) Archives, through Kaggle.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591901" y="4014905"/>
            <a:ext cx="6789117" cy="402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Volume:</a:t>
            </a:r>
            <a:r>
              <a:rPr lang="en-US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~1,474 Monthly Records (1901–2020).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591901" y="4417457"/>
            <a:ext cx="6654035" cy="80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Inputs (Features):</a:t>
            </a:r>
            <a:r>
              <a:rPr lang="en-US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Month (Seasonality), Year (Long-term trends).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591901" y="5262204"/>
            <a:ext cx="6789117" cy="402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Outputs (Targets):</a:t>
            </a:r>
            <a:r>
              <a:rPr lang="en-US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Rainfall (mm), Temperature (°C).</a:t>
            </a:r>
            <a:endParaRPr lang="en-US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914B412F-5680-4541-8239-650788D0B682}"/>
              </a:ext>
            </a:extLst>
          </p:cNvPr>
          <p:cNvSpPr/>
          <p:nvPr/>
        </p:nvSpPr>
        <p:spPr>
          <a:xfrm>
            <a:off x="742295" y="7054794"/>
            <a:ext cx="5024199" cy="909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550"/>
              </a:lnSpc>
              <a:buNone/>
            </a:pPr>
            <a:r>
              <a:rPr lang="en-US" sz="1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Fig 2: Bangladesh Weather Map</a:t>
            </a:r>
            <a:endParaRPr lang="en-US" sz="1400" dirty="0"/>
          </a:p>
        </p:txBody>
      </p:sp>
      <p:pic>
        <p:nvPicPr>
          <p:cNvPr id="5122" name="Picture 2" descr="Climate - Banglapedia">
            <a:extLst>
              <a:ext uri="{FF2B5EF4-FFF2-40B4-BE49-F238E27FC236}">
                <a16:creationId xmlns:a16="http://schemas.microsoft.com/office/drawing/2014/main" id="{1FBF55FA-CEAB-425D-932F-4DE4C6AB10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90" y="1593954"/>
            <a:ext cx="4921210" cy="5647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F8CE756A-E118-4440-8EF9-8E664D2E7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93790" y="2414588"/>
            <a:ext cx="31527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Requirements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93790" y="3222546"/>
            <a:ext cx="4196358" cy="2592348"/>
          </a:xfrm>
          <a:prstGeom prst="roundRect">
            <a:avLst>
              <a:gd name="adj" fmla="val 3675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224" y="3456980"/>
            <a:ext cx="680442" cy="68044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5390" y="3644027"/>
            <a:ext cx="306110" cy="30611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8224" y="43642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Hardware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28224" y="4854654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AMD Ryzen 5 3500, 16GB RAM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5216962" y="3222546"/>
            <a:ext cx="4196358" cy="2592348"/>
          </a:xfrm>
          <a:prstGeom prst="roundRect">
            <a:avLst>
              <a:gd name="adj" fmla="val 3675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1396" y="3456980"/>
            <a:ext cx="680442" cy="68044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38562" y="3644027"/>
            <a:ext cx="306110" cy="30611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51396" y="43642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Software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5451396" y="4854654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Python 3.10+, Google Colab Environment.</a:t>
            </a:r>
            <a:endParaRPr lang="en-US" sz="1750" dirty="0"/>
          </a:p>
        </p:txBody>
      </p:sp>
      <p:sp>
        <p:nvSpPr>
          <p:cNvPr id="13" name="Shape 7"/>
          <p:cNvSpPr/>
          <p:nvPr/>
        </p:nvSpPr>
        <p:spPr>
          <a:xfrm>
            <a:off x="9640133" y="3222546"/>
            <a:ext cx="4196358" cy="2592348"/>
          </a:xfrm>
          <a:prstGeom prst="roundRect">
            <a:avLst>
              <a:gd name="adj" fmla="val 3675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74568" y="3456980"/>
            <a:ext cx="680442" cy="680442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61734" y="3644027"/>
            <a:ext cx="306110" cy="30611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874568" y="43642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Libraries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9874568" y="4854654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Scikit-Learn (ML), TensorFlow/Keras (Deep Learning), Pandas, Matplotlib.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22BEFDB-0B2E-41DF-AC03-1FE9353B7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93790" y="1455539"/>
            <a:ext cx="28923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Pre-Processing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93790" y="2263497"/>
            <a:ext cx="2173724" cy="1306949"/>
          </a:xfrm>
          <a:prstGeom prst="roundRect">
            <a:avLst>
              <a:gd name="adj" fmla="val 728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21167" y="2757368"/>
            <a:ext cx="318968" cy="3189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94328" y="24903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194328" y="2980730"/>
            <a:ext cx="80664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Renamed columns (tem -&gt; Temperature, rain -&gt; Rainfall). Verified zero null values.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3080861" y="3555206"/>
            <a:ext cx="10642402" cy="15240"/>
          </a:xfrm>
          <a:prstGeom prst="roundRect">
            <a:avLst>
              <a:gd name="adj" fmla="val 625116"/>
            </a:avLst>
          </a:prstGeom>
          <a:solidFill>
            <a:srgbClr val="4A2C85"/>
          </a:solidFill>
          <a:ln/>
        </p:spPr>
      </p:sp>
      <p:sp>
        <p:nvSpPr>
          <p:cNvPr id="8" name="Shape 5"/>
          <p:cNvSpPr/>
          <p:nvPr/>
        </p:nvSpPr>
        <p:spPr>
          <a:xfrm>
            <a:off x="793790" y="3683794"/>
            <a:ext cx="4347567" cy="1669852"/>
          </a:xfrm>
          <a:prstGeom prst="roundRect">
            <a:avLst>
              <a:gd name="adj" fmla="val 5705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08089" y="4359116"/>
            <a:ext cx="318968" cy="3189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68171" y="39106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368171" y="4401026"/>
            <a:ext cx="824162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Applied StandardScaler to normalize inputs (Crucial for Neural Network performance).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254704" y="5338405"/>
            <a:ext cx="8468558" cy="15240"/>
          </a:xfrm>
          <a:prstGeom prst="roundRect">
            <a:avLst>
              <a:gd name="adj" fmla="val 625116"/>
            </a:avLst>
          </a:prstGeom>
          <a:solidFill>
            <a:srgbClr val="4A2C85"/>
          </a:solidFill>
          <a:ln/>
        </p:spPr>
      </p:sp>
      <p:sp>
        <p:nvSpPr>
          <p:cNvPr id="13" name="Shape 9"/>
          <p:cNvSpPr/>
          <p:nvPr/>
        </p:nvSpPr>
        <p:spPr>
          <a:xfrm>
            <a:off x="793790" y="5466993"/>
            <a:ext cx="6521410" cy="1306949"/>
          </a:xfrm>
          <a:prstGeom prst="roundRect">
            <a:avLst>
              <a:gd name="adj" fmla="val 728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95011" y="5960864"/>
            <a:ext cx="318968" cy="3189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42014" y="56938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Splitting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42014" y="6184225"/>
            <a:ext cx="36860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80% Training Data, 20% Testing Data.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22BEFDB-0B2E-41DF-AC03-1FE9353B7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6" name="Text 0">
            <a:extLst>
              <a:ext uri="{FF2B5EF4-FFF2-40B4-BE49-F238E27FC236}">
                <a16:creationId xmlns:a16="http://schemas.microsoft.com/office/drawing/2014/main" id="{6CAC572D-F58D-47BC-81AA-6ED19B3C4573}"/>
              </a:ext>
            </a:extLst>
          </p:cNvPr>
          <p:cNvSpPr/>
          <p:nvPr/>
        </p:nvSpPr>
        <p:spPr>
          <a:xfrm>
            <a:off x="809029" y="1302366"/>
            <a:ext cx="6087032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3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 &amp; Discussion</a:t>
            </a:r>
            <a:endParaRPr lang="en-US" sz="3200" dirty="0"/>
          </a:p>
        </p:txBody>
      </p:sp>
      <p:sp>
        <p:nvSpPr>
          <p:cNvPr id="27" name="Text 0">
            <a:extLst>
              <a:ext uri="{FF2B5EF4-FFF2-40B4-BE49-F238E27FC236}">
                <a16:creationId xmlns:a16="http://schemas.microsoft.com/office/drawing/2014/main" id="{11CF0B95-DE21-4BF9-AA71-F59AD5DB8CDB}"/>
              </a:ext>
            </a:extLst>
          </p:cNvPr>
          <p:cNvSpPr/>
          <p:nvPr/>
        </p:nvSpPr>
        <p:spPr>
          <a:xfrm>
            <a:off x="839509" y="226843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2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Accuracy Results</a:t>
            </a:r>
            <a:endParaRPr lang="en-US" sz="2400" dirty="0"/>
          </a:p>
        </p:txBody>
      </p:sp>
      <p:sp>
        <p:nvSpPr>
          <p:cNvPr id="28" name="Shape 1">
            <a:extLst>
              <a:ext uri="{FF2B5EF4-FFF2-40B4-BE49-F238E27FC236}">
                <a16:creationId xmlns:a16="http://schemas.microsoft.com/office/drawing/2014/main" id="{EAE71F1D-14BC-4E97-87FE-8E66D4E81649}"/>
              </a:ext>
            </a:extLst>
          </p:cNvPr>
          <p:cNvSpPr/>
          <p:nvPr/>
        </p:nvSpPr>
        <p:spPr>
          <a:xfrm>
            <a:off x="839509" y="3430845"/>
            <a:ext cx="6407944" cy="1367909"/>
          </a:xfrm>
          <a:prstGeom prst="roundRect">
            <a:avLst>
              <a:gd name="adj" fmla="val 10695"/>
            </a:avLst>
          </a:prstGeom>
          <a:solidFill>
            <a:srgbClr val="0D0A2C">
              <a:alpha val="95000"/>
            </a:srgbClr>
          </a:solidFill>
          <a:ln w="3048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0" descr="preencoded.png">
            <a:extLst>
              <a:ext uri="{FF2B5EF4-FFF2-40B4-BE49-F238E27FC236}">
                <a16:creationId xmlns:a16="http://schemas.microsoft.com/office/drawing/2014/main" id="{999BFD55-B309-4724-8C00-154B00669F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029" y="3430845"/>
            <a:ext cx="121920" cy="1367909"/>
          </a:xfrm>
          <a:prstGeom prst="rect">
            <a:avLst/>
          </a:prstGeom>
        </p:spPr>
      </p:pic>
      <p:sp>
        <p:nvSpPr>
          <p:cNvPr id="30" name="Text 2">
            <a:extLst>
              <a:ext uri="{FF2B5EF4-FFF2-40B4-BE49-F238E27FC236}">
                <a16:creationId xmlns:a16="http://schemas.microsoft.com/office/drawing/2014/main" id="{57841E60-E0AB-4CEB-AC43-BB13C063BDBD}"/>
              </a:ext>
            </a:extLst>
          </p:cNvPr>
          <p:cNvSpPr/>
          <p:nvPr/>
        </p:nvSpPr>
        <p:spPr>
          <a:xfrm>
            <a:off x="1188243" y="36881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Metric:</a:t>
            </a:r>
            <a:endParaRPr lang="en-US" sz="2200" dirty="0"/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B555C8FB-544D-4332-AA8D-A8EC4DB411BE}"/>
              </a:ext>
            </a:extLst>
          </p:cNvPr>
          <p:cNvSpPr/>
          <p:nvPr/>
        </p:nvSpPr>
        <p:spPr>
          <a:xfrm>
            <a:off x="1188243" y="4178558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R² Score (Coefficient of Determination).</a:t>
            </a:r>
            <a:endParaRPr lang="en-US" sz="1750" dirty="0"/>
          </a:p>
        </p:txBody>
      </p:sp>
      <p:sp>
        <p:nvSpPr>
          <p:cNvPr id="32" name="Shape 4">
            <a:extLst>
              <a:ext uri="{FF2B5EF4-FFF2-40B4-BE49-F238E27FC236}">
                <a16:creationId xmlns:a16="http://schemas.microsoft.com/office/drawing/2014/main" id="{B07B9E16-045E-4D4E-B806-9B97E49B437C}"/>
              </a:ext>
            </a:extLst>
          </p:cNvPr>
          <p:cNvSpPr/>
          <p:nvPr/>
        </p:nvSpPr>
        <p:spPr>
          <a:xfrm>
            <a:off x="7474267" y="3430845"/>
            <a:ext cx="6408063" cy="1367909"/>
          </a:xfrm>
          <a:prstGeom prst="roundRect">
            <a:avLst>
              <a:gd name="adj" fmla="val 10695"/>
            </a:avLst>
          </a:prstGeom>
          <a:solidFill>
            <a:srgbClr val="0D0A2C">
              <a:alpha val="95000"/>
            </a:srgbClr>
          </a:solidFill>
          <a:ln w="3048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1" descr="preencoded.png">
            <a:extLst>
              <a:ext uri="{FF2B5EF4-FFF2-40B4-BE49-F238E27FC236}">
                <a16:creationId xmlns:a16="http://schemas.microsoft.com/office/drawing/2014/main" id="{38DB5D33-1CE6-43FF-9EF4-093F7A0133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786" y="3430845"/>
            <a:ext cx="121920" cy="1367909"/>
          </a:xfrm>
          <a:prstGeom prst="rect">
            <a:avLst/>
          </a:prstGeom>
        </p:spPr>
      </p:pic>
      <p:sp>
        <p:nvSpPr>
          <p:cNvPr id="34" name="Text 5">
            <a:extLst>
              <a:ext uri="{FF2B5EF4-FFF2-40B4-BE49-F238E27FC236}">
                <a16:creationId xmlns:a16="http://schemas.microsoft.com/office/drawing/2014/main" id="{A4357875-FA3C-4BCA-A733-25C372CA24B8}"/>
              </a:ext>
            </a:extLst>
          </p:cNvPr>
          <p:cNvSpPr/>
          <p:nvPr/>
        </p:nvSpPr>
        <p:spPr>
          <a:xfrm>
            <a:off x="7823001" y="36881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Forest:</a:t>
            </a:r>
            <a:endParaRPr lang="en-US" sz="2200" dirty="0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E709BCE8-E5A5-473E-A473-96F7E641DA41}"/>
              </a:ext>
            </a:extLst>
          </p:cNvPr>
          <p:cNvSpPr/>
          <p:nvPr/>
        </p:nvSpPr>
        <p:spPr>
          <a:xfrm>
            <a:off x="7823001" y="4178558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~76% Accuracy (Rainfall), ~96% (Temp).</a:t>
            </a:r>
            <a:endParaRPr lang="en-US" sz="1750" dirty="0"/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8E794654-B956-4EB3-89D3-CB36C13558B5}"/>
              </a:ext>
            </a:extLst>
          </p:cNvPr>
          <p:cNvSpPr/>
          <p:nvPr/>
        </p:nvSpPr>
        <p:spPr>
          <a:xfrm>
            <a:off x="839509" y="5025568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0D0A2C">
              <a:alpha val="95000"/>
            </a:srgbClr>
          </a:solidFill>
          <a:ln w="3048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2" descr="preencoded.png">
            <a:extLst>
              <a:ext uri="{FF2B5EF4-FFF2-40B4-BE49-F238E27FC236}">
                <a16:creationId xmlns:a16="http://schemas.microsoft.com/office/drawing/2014/main" id="{915D4B31-8DC3-4215-B370-BA16DED8AF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029" y="5025568"/>
            <a:ext cx="121920" cy="1730812"/>
          </a:xfrm>
          <a:prstGeom prst="rect">
            <a:avLst/>
          </a:prstGeom>
        </p:spPr>
      </p:pic>
      <p:sp>
        <p:nvSpPr>
          <p:cNvPr id="38" name="Text 8">
            <a:extLst>
              <a:ext uri="{FF2B5EF4-FFF2-40B4-BE49-F238E27FC236}">
                <a16:creationId xmlns:a16="http://schemas.microsoft.com/office/drawing/2014/main" id="{F2344FC4-2036-4576-80ED-2C536DC60CB9}"/>
              </a:ext>
            </a:extLst>
          </p:cNvPr>
          <p:cNvSpPr/>
          <p:nvPr/>
        </p:nvSpPr>
        <p:spPr>
          <a:xfrm>
            <a:off x="1188243" y="52828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Neural Network:</a:t>
            </a:r>
            <a:endParaRPr lang="en-US" sz="2200" dirty="0"/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78453CE5-7847-4026-BD92-B4FB61E757C1}"/>
              </a:ext>
            </a:extLst>
          </p:cNvPr>
          <p:cNvSpPr/>
          <p:nvPr/>
        </p:nvSpPr>
        <p:spPr>
          <a:xfrm>
            <a:off x="1188243" y="5773281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~82% Accuracy (Rainfall), ~96% (Temp).</a:t>
            </a:r>
            <a:endParaRPr lang="en-US" sz="1750" dirty="0"/>
          </a:p>
        </p:txBody>
      </p:sp>
      <p:sp>
        <p:nvSpPr>
          <p:cNvPr id="40" name="Shape 10">
            <a:extLst>
              <a:ext uri="{FF2B5EF4-FFF2-40B4-BE49-F238E27FC236}">
                <a16:creationId xmlns:a16="http://schemas.microsoft.com/office/drawing/2014/main" id="{F5B7C27B-9140-4C12-99ED-6F8A4740DFC2}"/>
              </a:ext>
            </a:extLst>
          </p:cNvPr>
          <p:cNvSpPr/>
          <p:nvPr/>
        </p:nvSpPr>
        <p:spPr>
          <a:xfrm>
            <a:off x="7474267" y="5025568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0D0A2C">
              <a:alpha val="95000"/>
            </a:srgbClr>
          </a:solidFill>
          <a:ln w="3048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3" descr="preencoded.png">
            <a:extLst>
              <a:ext uri="{FF2B5EF4-FFF2-40B4-BE49-F238E27FC236}">
                <a16:creationId xmlns:a16="http://schemas.microsoft.com/office/drawing/2014/main" id="{50B409B0-34EB-4F85-A5A9-90B8D234EB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3786" y="5025568"/>
            <a:ext cx="121920" cy="1730812"/>
          </a:xfrm>
          <a:prstGeom prst="rect">
            <a:avLst/>
          </a:prstGeom>
        </p:spPr>
      </p:pic>
      <p:sp>
        <p:nvSpPr>
          <p:cNvPr id="42" name="Text 11">
            <a:extLst>
              <a:ext uri="{FF2B5EF4-FFF2-40B4-BE49-F238E27FC236}">
                <a16:creationId xmlns:a16="http://schemas.microsoft.com/office/drawing/2014/main" id="{EAA71E7A-2257-4158-BB95-4418D1B3533A}"/>
              </a:ext>
            </a:extLst>
          </p:cNvPr>
          <p:cNvSpPr/>
          <p:nvPr/>
        </p:nvSpPr>
        <p:spPr>
          <a:xfrm>
            <a:off x="7823001" y="52828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Verdict:</a:t>
            </a:r>
            <a:endParaRPr lang="en-US" sz="2200" dirty="0"/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3A7D91EB-340F-425D-8657-863D46719C15}"/>
              </a:ext>
            </a:extLst>
          </p:cNvPr>
          <p:cNvSpPr/>
          <p:nvPr/>
        </p:nvSpPr>
        <p:spPr>
          <a:xfrm>
            <a:off x="7823001" y="5773281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Both models are reliable, with ANN showing a slight edge in capturing rainfall complexity.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548324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22BEFDB-0B2E-41DF-AC03-1FE9353B7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D6B2B77-4DE1-44DF-B190-F58F5311FBED}"/>
              </a:ext>
            </a:extLst>
          </p:cNvPr>
          <p:cNvSpPr/>
          <p:nvPr/>
        </p:nvSpPr>
        <p:spPr>
          <a:xfrm>
            <a:off x="809029" y="1302366"/>
            <a:ext cx="6087032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3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 Summary</a:t>
            </a:r>
            <a:endParaRPr lang="en-US" sz="3200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570C14FD-1607-4206-BCFA-3F1189D56F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029" y="2211532"/>
            <a:ext cx="5726853" cy="4189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614E4F75-D9BD-4C06-AA73-87D09AE53F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1" y="2211532"/>
            <a:ext cx="5486400" cy="4189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0">
            <a:extLst>
              <a:ext uri="{FF2B5EF4-FFF2-40B4-BE49-F238E27FC236}">
                <a16:creationId xmlns:a16="http://schemas.microsoft.com/office/drawing/2014/main" id="{5B6AF17C-07AD-42CD-B1CE-D8CA8BE87F0C}"/>
              </a:ext>
            </a:extLst>
          </p:cNvPr>
          <p:cNvSpPr/>
          <p:nvPr/>
        </p:nvSpPr>
        <p:spPr>
          <a:xfrm>
            <a:off x="1340445" y="6400800"/>
            <a:ext cx="5024199" cy="909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550"/>
              </a:lnSpc>
              <a:buNone/>
            </a:pPr>
            <a:r>
              <a:rPr lang="en-US" sz="1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Fig 3: Total Rainfall in Bangladesh (1901-2020)</a:t>
            </a:r>
            <a:endParaRPr lang="en-US" sz="1400" dirty="0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3EDC9B9B-2114-4E57-970C-5AEC183B23FC}"/>
              </a:ext>
            </a:extLst>
          </p:cNvPr>
          <p:cNvSpPr/>
          <p:nvPr/>
        </p:nvSpPr>
        <p:spPr>
          <a:xfrm>
            <a:off x="7546301" y="6364066"/>
            <a:ext cx="5024199" cy="724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550"/>
              </a:lnSpc>
              <a:buNone/>
            </a:pPr>
            <a:r>
              <a:rPr lang="en-US" sz="1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Fig 4: Monthly Rain Distribution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93743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22BEFDB-0B2E-41DF-AC03-1FE9353B7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D6B2B77-4DE1-44DF-B190-F58F5311FBED}"/>
              </a:ext>
            </a:extLst>
          </p:cNvPr>
          <p:cNvSpPr/>
          <p:nvPr/>
        </p:nvSpPr>
        <p:spPr>
          <a:xfrm>
            <a:off x="809029" y="1302366"/>
            <a:ext cx="6087032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3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 Summary</a:t>
            </a:r>
            <a:endParaRPr lang="en-US" sz="32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32F3E30-0EBE-4A2F-9FB5-E1528B0E88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029" y="2286000"/>
            <a:ext cx="6087032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AA1F4516-B6AA-4324-8ABC-37AC93880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1802" y="2286001"/>
            <a:ext cx="5490189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C381FD33-C04B-4D70-8DCA-91D38C8F5CD6}"/>
              </a:ext>
            </a:extLst>
          </p:cNvPr>
          <p:cNvSpPr/>
          <p:nvPr/>
        </p:nvSpPr>
        <p:spPr>
          <a:xfrm>
            <a:off x="1340445" y="6406034"/>
            <a:ext cx="5024199" cy="909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550"/>
              </a:lnSpc>
              <a:buNone/>
            </a:pPr>
            <a:r>
              <a:rPr lang="en-US" sz="1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Fig 5: Total Rainfall per Month in Bangladesh</a:t>
            </a:r>
            <a:endParaRPr lang="en-US" sz="140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86717C27-4AF5-4D60-A0AE-76E4D1CDA9BF}"/>
              </a:ext>
            </a:extLst>
          </p:cNvPr>
          <p:cNvSpPr/>
          <p:nvPr/>
        </p:nvSpPr>
        <p:spPr>
          <a:xfrm>
            <a:off x="7554796" y="6406034"/>
            <a:ext cx="5024199" cy="909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550"/>
              </a:lnSpc>
              <a:buNone/>
            </a:pPr>
            <a:r>
              <a:rPr lang="en-US" sz="1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Fig 6: Correlation Matrix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15822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22BEFDB-0B2E-41DF-AC03-1FE9353B7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D6B2B77-4DE1-44DF-B190-F58F5311FBED}"/>
              </a:ext>
            </a:extLst>
          </p:cNvPr>
          <p:cNvSpPr/>
          <p:nvPr/>
        </p:nvSpPr>
        <p:spPr>
          <a:xfrm>
            <a:off x="809029" y="1302366"/>
            <a:ext cx="6087032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3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 Summary</a:t>
            </a:r>
            <a:endParaRPr lang="en-US" sz="3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2FC11F1-3AD4-4F73-BED1-4586B49D5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030" y="2243138"/>
            <a:ext cx="5716462" cy="4157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FF89C04-BD3B-4FA2-ACB6-A7393DFD7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522" y="2243138"/>
            <a:ext cx="5501753" cy="4157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AB75A53C-9697-4AED-9758-C78DAD1F3612}"/>
              </a:ext>
            </a:extLst>
          </p:cNvPr>
          <p:cNvSpPr/>
          <p:nvPr/>
        </p:nvSpPr>
        <p:spPr>
          <a:xfrm>
            <a:off x="1340445" y="6406034"/>
            <a:ext cx="5024199" cy="909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550"/>
              </a:lnSpc>
              <a:buNone/>
            </a:pPr>
            <a:r>
              <a:rPr lang="en-US" sz="1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Fig 7: ANN Leaning Curve</a:t>
            </a:r>
            <a:endParaRPr lang="en-US" sz="140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3FEAE87C-A6FB-4A61-AA81-C5AD0EE9BF85}"/>
              </a:ext>
            </a:extLst>
          </p:cNvPr>
          <p:cNvSpPr/>
          <p:nvPr/>
        </p:nvSpPr>
        <p:spPr>
          <a:xfrm>
            <a:off x="7573298" y="6406034"/>
            <a:ext cx="5024199" cy="909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550"/>
              </a:lnSpc>
              <a:buNone/>
            </a:pPr>
            <a:r>
              <a:rPr lang="en-US" sz="1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Fig 8: Accuracy Check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70025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22BEFDB-0B2E-41DF-AC03-1FE9353B7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D6B2B77-4DE1-44DF-B190-F58F5311FBED}"/>
              </a:ext>
            </a:extLst>
          </p:cNvPr>
          <p:cNvSpPr/>
          <p:nvPr/>
        </p:nvSpPr>
        <p:spPr>
          <a:xfrm>
            <a:off x="809029" y="1302366"/>
            <a:ext cx="6087032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3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 Summary</a:t>
            </a:r>
            <a:endParaRPr lang="en-US" sz="32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F8FE103-887D-478E-A0E0-CD00BCD3ED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030" y="2286000"/>
            <a:ext cx="5716462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F942DC2B-3268-4BD1-8C04-6B993E914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2286000"/>
            <a:ext cx="5496791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0">
            <a:extLst>
              <a:ext uri="{FF2B5EF4-FFF2-40B4-BE49-F238E27FC236}">
                <a16:creationId xmlns:a16="http://schemas.microsoft.com/office/drawing/2014/main" id="{2082CB1E-A726-475A-AD60-3B20B54B7810}"/>
              </a:ext>
            </a:extLst>
          </p:cNvPr>
          <p:cNvSpPr/>
          <p:nvPr/>
        </p:nvSpPr>
        <p:spPr>
          <a:xfrm>
            <a:off x="1340445" y="6406034"/>
            <a:ext cx="5024199" cy="909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550"/>
              </a:lnSpc>
              <a:buNone/>
            </a:pPr>
            <a:r>
              <a:rPr lang="en-US" sz="1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Fig 9: Accuracy Comparison (RF vs ANN)</a:t>
            </a:r>
            <a:endParaRPr lang="en-US" sz="1400" dirty="0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DD96F3D0-27CC-4781-8A2D-18B09DDD8B98}"/>
              </a:ext>
            </a:extLst>
          </p:cNvPr>
          <p:cNvSpPr/>
          <p:nvPr/>
        </p:nvSpPr>
        <p:spPr>
          <a:xfrm>
            <a:off x="7551495" y="6400800"/>
            <a:ext cx="5024199" cy="909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550"/>
              </a:lnSpc>
              <a:buNone/>
            </a:pPr>
            <a:r>
              <a:rPr lang="en-US" sz="1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Fig 10: Future Forecast </a:t>
            </a:r>
            <a:r>
              <a:rPr lang="en-US" sz="1400" dirty="0" err="1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Divergance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081802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22BEFDB-0B2E-41DF-AC03-1FE9353B7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B7C6B81-CCBD-4602-B82E-7D1E81AE50C5}"/>
              </a:ext>
            </a:extLst>
          </p:cNvPr>
          <p:cNvSpPr/>
          <p:nvPr/>
        </p:nvSpPr>
        <p:spPr>
          <a:xfrm>
            <a:off x="789980" y="2412384"/>
            <a:ext cx="60587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3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Comparative Analysis</a:t>
            </a:r>
            <a:endParaRPr lang="en-US" sz="32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CF71485-9A05-42A9-AFB4-B4DE6DA12387}"/>
              </a:ext>
            </a:extLst>
          </p:cNvPr>
          <p:cNvSpPr/>
          <p:nvPr/>
        </p:nvSpPr>
        <p:spPr>
          <a:xfrm>
            <a:off x="789980" y="36881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Divergence:</a:t>
            </a:r>
            <a:endParaRPr lang="en-US" sz="2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1E5603E-453F-4FB2-803E-E75FA0CF4DCB}"/>
              </a:ext>
            </a:extLst>
          </p:cNvPr>
          <p:cNvSpPr/>
          <p:nvPr/>
        </p:nvSpPr>
        <p:spPr>
          <a:xfrm>
            <a:off x="789981" y="4269283"/>
            <a:ext cx="5475738" cy="946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For July 2031, RF predicted 350.85 mm, while </a:t>
            </a:r>
          </a:p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ANN predicted 410.07 mm.</a:t>
            </a:r>
            <a:endParaRPr lang="en-US" sz="17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F0AB10-28E3-498E-B01B-AD049425C0CD}"/>
              </a:ext>
            </a:extLst>
          </p:cNvPr>
          <p:cNvSpPr/>
          <p:nvPr/>
        </p:nvSpPr>
        <p:spPr>
          <a:xfrm>
            <a:off x="7595711" y="36881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Interpretation:</a:t>
            </a:r>
            <a:endParaRPr lang="en-US" sz="2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F422626-E086-44FF-B28F-276872AE5BEF}"/>
              </a:ext>
            </a:extLst>
          </p:cNvPr>
          <p:cNvSpPr/>
          <p:nvPr/>
        </p:nvSpPr>
        <p:spPr>
          <a:xfrm>
            <a:off x="7595711" y="426928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RF relies on 100-year averages. ANN detected a recent drying trend in the specific month.</a:t>
            </a:r>
            <a:endParaRPr lang="en-US" sz="17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0D5035D-1126-4ECA-A789-F9234B9B4443}"/>
              </a:ext>
            </a:extLst>
          </p:cNvPr>
          <p:cNvSpPr/>
          <p:nvPr/>
        </p:nvSpPr>
        <p:spPr>
          <a:xfrm>
            <a:off x="789980" y="545431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We present </a:t>
            </a:r>
            <a:r>
              <a:rPr lang="en-US" sz="175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both</a:t>
            </a: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numbers to offer a "Best Case" vs. "Worst Case" scenario to policymakers.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4060375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22BEFDB-0B2E-41DF-AC03-1FE9353B7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61D2992-DAC2-4B8F-9B69-D1DAFF66DA84}"/>
              </a:ext>
            </a:extLst>
          </p:cNvPr>
          <p:cNvSpPr/>
          <p:nvPr/>
        </p:nvSpPr>
        <p:spPr>
          <a:xfrm>
            <a:off x="793849" y="2176998"/>
            <a:ext cx="67720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3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410258B5-B136-49A4-AA27-CF6895B177C6}"/>
              </a:ext>
            </a:extLst>
          </p:cNvPr>
          <p:cNvSpPr/>
          <p:nvPr/>
        </p:nvSpPr>
        <p:spPr>
          <a:xfrm>
            <a:off x="793849" y="3218378"/>
            <a:ext cx="4196358" cy="2955250"/>
          </a:xfrm>
          <a:prstGeom prst="roundRect">
            <a:avLst>
              <a:gd name="adj" fmla="val 3224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3904A07B-52BF-42D2-BD8F-67199C1AFB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283" y="3452813"/>
            <a:ext cx="680442" cy="680442"/>
          </a:xfrm>
          <a:prstGeom prst="rect">
            <a:avLst/>
          </a:prstGeom>
        </p:spPr>
      </p:pic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C20CE86B-CE1F-4A75-8DAA-E7839ADD5D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5449" y="3639860"/>
            <a:ext cx="306110" cy="306110"/>
          </a:xfrm>
          <a:prstGeom prst="rect">
            <a:avLst/>
          </a:prstGeom>
        </p:spPr>
      </p:pic>
      <p:sp>
        <p:nvSpPr>
          <p:cNvPr id="17" name="Text 2">
            <a:extLst>
              <a:ext uri="{FF2B5EF4-FFF2-40B4-BE49-F238E27FC236}">
                <a16:creationId xmlns:a16="http://schemas.microsoft.com/office/drawing/2014/main" id="{A3D94108-0B61-47D5-9B0B-08D811C9E473}"/>
              </a:ext>
            </a:extLst>
          </p:cNvPr>
          <p:cNvSpPr/>
          <p:nvPr/>
        </p:nvSpPr>
        <p:spPr>
          <a:xfrm>
            <a:off x="1028283" y="43600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Success:</a:t>
            </a:r>
            <a:endParaRPr lang="en-US" sz="220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88EEA649-6BCE-44F1-AEF1-67805BD1E261}"/>
              </a:ext>
            </a:extLst>
          </p:cNvPr>
          <p:cNvSpPr/>
          <p:nvPr/>
        </p:nvSpPr>
        <p:spPr>
          <a:xfrm>
            <a:off x="1028283" y="4850487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Developed "Flood-Guard," a functional dual-engine AI system.</a:t>
            </a:r>
            <a:endParaRPr lang="en-US" sz="1750" dirty="0"/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C493C66F-F14C-4ABD-A19F-3866345D4A78}"/>
              </a:ext>
            </a:extLst>
          </p:cNvPr>
          <p:cNvSpPr/>
          <p:nvPr/>
        </p:nvSpPr>
        <p:spPr>
          <a:xfrm>
            <a:off x="5217021" y="3218378"/>
            <a:ext cx="4196358" cy="2955250"/>
          </a:xfrm>
          <a:prstGeom prst="roundRect">
            <a:avLst>
              <a:gd name="adj" fmla="val 3224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8D8C0917-41B8-4254-8F46-FEE070C0FE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1455" y="3452813"/>
            <a:ext cx="680442" cy="680442"/>
          </a:xfrm>
          <a:prstGeom prst="rect">
            <a:avLst/>
          </a:prstGeom>
        </p:spPr>
      </p:pic>
      <p:pic>
        <p:nvPicPr>
          <p:cNvPr id="22" name="Image 3" descr="preencoded.png">
            <a:extLst>
              <a:ext uri="{FF2B5EF4-FFF2-40B4-BE49-F238E27FC236}">
                <a16:creationId xmlns:a16="http://schemas.microsoft.com/office/drawing/2014/main" id="{5454D045-F906-4D2E-AD18-4B145BF480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38621" y="3639860"/>
            <a:ext cx="306110" cy="306110"/>
          </a:xfrm>
          <a:prstGeom prst="rect">
            <a:avLst/>
          </a:prstGeom>
        </p:spPr>
      </p:pic>
      <p:sp>
        <p:nvSpPr>
          <p:cNvPr id="23" name="Text 5">
            <a:extLst>
              <a:ext uri="{FF2B5EF4-FFF2-40B4-BE49-F238E27FC236}">
                <a16:creationId xmlns:a16="http://schemas.microsoft.com/office/drawing/2014/main" id="{975078D8-5D77-44E9-9915-3607121E7878}"/>
              </a:ext>
            </a:extLst>
          </p:cNvPr>
          <p:cNvSpPr/>
          <p:nvPr/>
        </p:nvSpPr>
        <p:spPr>
          <a:xfrm>
            <a:off x="5451455" y="43600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Impact:</a:t>
            </a:r>
            <a:endParaRPr lang="en-US" sz="2200" dirty="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335B8EA0-82F1-44B2-B2B5-ECD69B209343}"/>
              </a:ext>
            </a:extLst>
          </p:cNvPr>
          <p:cNvSpPr/>
          <p:nvPr/>
        </p:nvSpPr>
        <p:spPr>
          <a:xfrm>
            <a:off x="5451455" y="4850487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Proves Machine Learning is viable for long-term forecasting in Bangladesh.</a:t>
            </a:r>
            <a:endParaRPr lang="en-US" sz="1750" dirty="0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6C025DB-BBEF-430A-B394-EA3847D681DD}"/>
              </a:ext>
            </a:extLst>
          </p:cNvPr>
          <p:cNvSpPr/>
          <p:nvPr/>
        </p:nvSpPr>
        <p:spPr>
          <a:xfrm>
            <a:off x="9640192" y="3218378"/>
            <a:ext cx="4196358" cy="2955250"/>
          </a:xfrm>
          <a:prstGeom prst="roundRect">
            <a:avLst>
              <a:gd name="adj" fmla="val 3224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>
            <a:extLst>
              <a:ext uri="{FF2B5EF4-FFF2-40B4-BE49-F238E27FC236}">
                <a16:creationId xmlns:a16="http://schemas.microsoft.com/office/drawing/2014/main" id="{6AD6710B-04F6-40C3-AB6A-DBE102F4D7F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74627" y="3452813"/>
            <a:ext cx="680442" cy="680442"/>
          </a:xfrm>
          <a:prstGeom prst="rect">
            <a:avLst/>
          </a:prstGeom>
        </p:spPr>
      </p:pic>
      <p:pic>
        <p:nvPicPr>
          <p:cNvPr id="27" name="Image 5" descr="preencoded.png">
            <a:extLst>
              <a:ext uri="{FF2B5EF4-FFF2-40B4-BE49-F238E27FC236}">
                <a16:creationId xmlns:a16="http://schemas.microsoft.com/office/drawing/2014/main" id="{C2E4223A-2D41-46EF-B4B2-A2C1EE5ECC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61793" y="3639860"/>
            <a:ext cx="306110" cy="306110"/>
          </a:xfrm>
          <a:prstGeom prst="rect">
            <a:avLst/>
          </a:prstGeom>
        </p:spPr>
      </p:pic>
      <p:sp>
        <p:nvSpPr>
          <p:cNvPr id="28" name="Text 8">
            <a:extLst>
              <a:ext uri="{FF2B5EF4-FFF2-40B4-BE49-F238E27FC236}">
                <a16:creationId xmlns:a16="http://schemas.microsoft.com/office/drawing/2014/main" id="{D0CA33D0-FB3F-401E-B997-D502C82217E2}"/>
              </a:ext>
            </a:extLst>
          </p:cNvPr>
          <p:cNvSpPr/>
          <p:nvPr/>
        </p:nvSpPr>
        <p:spPr>
          <a:xfrm>
            <a:off x="9874627" y="43600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Innovation:</a:t>
            </a:r>
            <a:endParaRPr lang="en-US" sz="2200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A6DBFB34-10BF-4FCB-B379-76E560B00B88}"/>
              </a:ext>
            </a:extLst>
          </p:cNvPr>
          <p:cNvSpPr/>
          <p:nvPr/>
        </p:nvSpPr>
        <p:spPr>
          <a:xfrm>
            <a:off x="9874627" y="4850487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Mitigated individual model weaknesses by combining ML and DL architectures.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4627387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22BEFDB-0B2E-41DF-AC03-1FE9353B7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 10">
            <a:extLst>
              <a:ext uri="{FF2B5EF4-FFF2-40B4-BE49-F238E27FC236}">
                <a16:creationId xmlns:a16="http://schemas.microsoft.com/office/drawing/2014/main" id="{2C6A168D-34A2-4BD8-8F5D-BECB675DC771}"/>
              </a:ext>
            </a:extLst>
          </p:cNvPr>
          <p:cNvSpPr/>
          <p:nvPr/>
        </p:nvSpPr>
        <p:spPr>
          <a:xfrm>
            <a:off x="793790" y="1387842"/>
            <a:ext cx="49479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38190C-31B5-4D61-B383-A46D05BB2F98}"/>
              </a:ext>
            </a:extLst>
          </p:cNvPr>
          <p:cNvSpPr/>
          <p:nvPr/>
        </p:nvSpPr>
        <p:spPr>
          <a:xfrm>
            <a:off x="793790" y="2014836"/>
            <a:ext cx="1276634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[1] M. A. </a:t>
            </a:r>
            <a:r>
              <a:rPr lang="en-US" dirty="0" err="1"/>
              <a:t>Azmain</a:t>
            </a:r>
            <a:r>
              <a:rPr lang="en-US" dirty="0"/>
              <a:t>, M. Ahmed, </a:t>
            </a:r>
            <a:r>
              <a:rPr lang="en-US" i="1" dirty="0"/>
              <a:t>et al.</a:t>
            </a:r>
            <a:r>
              <a:rPr lang="en-US" dirty="0"/>
              <a:t>, “Prediction of rainfall in Bangladesh using machine learning techniques,” </a:t>
            </a:r>
            <a:r>
              <a:rPr lang="en-US" i="1" dirty="0"/>
              <a:t>IEEE</a:t>
            </a:r>
            <a:r>
              <a:rPr lang="en-US" dirty="0"/>
              <a:t>, 2022.</a:t>
            </a:r>
          </a:p>
          <a:p>
            <a:endParaRPr lang="en-US" dirty="0"/>
          </a:p>
          <a:p>
            <a:r>
              <a:rPr lang="en-US" dirty="0"/>
              <a:t>[2] R. I. </a:t>
            </a:r>
            <a:r>
              <a:rPr lang="en-US" dirty="0" err="1"/>
              <a:t>Hemel</a:t>
            </a:r>
            <a:r>
              <a:rPr lang="en-US" dirty="0"/>
              <a:t> and S. </a:t>
            </a:r>
            <a:r>
              <a:rPr lang="en-US" dirty="0" err="1"/>
              <a:t>Sakib</a:t>
            </a:r>
            <a:r>
              <a:rPr lang="en-US" dirty="0"/>
              <a:t>, “Flood prediction in Bangladesh using machine learning and explainable artificial intelligence,” </a:t>
            </a:r>
            <a:r>
              <a:rPr lang="en-US" i="1" dirty="0"/>
              <a:t>IEEE</a:t>
            </a:r>
            <a:r>
              <a:rPr lang="en-US" dirty="0"/>
              <a:t>, 2024.</a:t>
            </a:r>
          </a:p>
          <a:p>
            <a:endParaRPr lang="en-US" dirty="0"/>
          </a:p>
          <a:p>
            <a:r>
              <a:rPr lang="en-US" dirty="0"/>
              <a:t>[3] M. N. Islam, “Relations of water-logging with heavy rainfall in Dhaka city (1991–2021),” </a:t>
            </a:r>
            <a:r>
              <a:rPr lang="en-US" i="1" dirty="0"/>
              <a:t>Journal of Emerging Technologies and Innovative Research (JETIR)</a:t>
            </a:r>
            <a:r>
              <a:rPr lang="en-US" dirty="0"/>
              <a:t>, vol. 9, no. 6, 2022.</a:t>
            </a:r>
          </a:p>
          <a:p>
            <a:endParaRPr lang="en-US" dirty="0"/>
          </a:p>
          <a:p>
            <a:r>
              <a:rPr lang="en-US" dirty="0"/>
              <a:t>[4] </a:t>
            </a:r>
            <a:r>
              <a:rPr lang="en-US" dirty="0" err="1"/>
              <a:t>OpenAI</a:t>
            </a:r>
            <a:r>
              <a:rPr lang="en-US" dirty="0"/>
              <a:t>, “</a:t>
            </a:r>
            <a:r>
              <a:rPr lang="en-US" dirty="0" err="1"/>
              <a:t>ChatGPT</a:t>
            </a:r>
            <a:r>
              <a:rPr lang="en-US" dirty="0"/>
              <a:t>: Optimizing language models for dialogue,” </a:t>
            </a:r>
            <a:r>
              <a:rPr lang="en-US" i="1" dirty="0" err="1"/>
              <a:t>OpenAI</a:t>
            </a:r>
            <a:r>
              <a:rPr lang="en-US" i="1" dirty="0"/>
              <a:t> Technical Report</a:t>
            </a:r>
            <a:r>
              <a:rPr lang="en-US" dirty="0"/>
              <a:t>, 2022. [Online]. Available: </a:t>
            </a:r>
            <a:r>
              <a:rPr lang="en-US" dirty="0">
                <a:highlight>
                  <a:srgbClr val="C0C0C0"/>
                </a:highlight>
                <a:hlinkClick r:id="rId4"/>
              </a:rPr>
              <a:t>https://openai.com</a:t>
            </a:r>
            <a:endParaRPr lang="en-US" dirty="0">
              <a:highlight>
                <a:srgbClr val="C0C0C0"/>
              </a:highlight>
            </a:endParaRPr>
          </a:p>
          <a:p>
            <a:endParaRPr lang="en-US" dirty="0"/>
          </a:p>
          <a:p>
            <a:r>
              <a:rPr lang="en-US" dirty="0"/>
              <a:t>[5] Google DeepMind, “Gemini: A family of highly capable multimodal AI models,” </a:t>
            </a:r>
            <a:r>
              <a:rPr lang="en-US" i="1" dirty="0"/>
              <a:t>Technical Report</a:t>
            </a:r>
            <a:r>
              <a:rPr lang="en-US" dirty="0"/>
              <a:t>, 2023. [Online]. Available: </a:t>
            </a:r>
            <a:r>
              <a:rPr lang="en-US" dirty="0">
                <a:highlight>
                  <a:srgbClr val="C0C0C0"/>
                </a:highlight>
                <a:hlinkClick r:id="rId5"/>
              </a:rPr>
              <a:t>https://deepmind.google</a:t>
            </a:r>
            <a:endParaRPr lang="en-US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022078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506AAD6-93A5-4BFC-AD2F-3DE01BA844D3}">
  <we:reference id="b976bf9e-dd87-459f-840c-210c09b36273" version="3.0.0.3" store="EXCatalog" storeType="EXCatalog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243</TotalTime>
  <Words>972</Words>
  <Application>Microsoft Office PowerPoint</Application>
  <PresentationFormat>Custom</PresentationFormat>
  <Paragraphs>208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Calibri</vt:lpstr>
      <vt:lpstr>Times New Roman</vt:lpstr>
      <vt:lpstr>Heebo Light</vt:lpstr>
      <vt:lpstr>Wingdings</vt:lpstr>
      <vt:lpstr>Montserrat</vt:lpstr>
      <vt:lpstr>Wingdings 3</vt:lpstr>
      <vt:lpstr>Century Gothic</vt:lpstr>
      <vt:lpstr>Montserrat Light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Md Fahad Sikder</cp:lastModifiedBy>
  <cp:revision>32</cp:revision>
  <dcterms:created xsi:type="dcterms:W3CDTF">2025-12-26T19:25:00Z</dcterms:created>
  <dcterms:modified xsi:type="dcterms:W3CDTF">2026-01-03T12:15:06Z</dcterms:modified>
</cp:coreProperties>
</file>